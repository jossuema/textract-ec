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9"/>
    <p:sldId id="257" r:id="rId8"/>
    <p:sldId id="258" r:id="rId7"/>
    <p:sldId id="259" r:id="rId6"/>
    <p:sldId id="260" r:id="rId5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font" Target="fonts/Montserrat-regular.fntdata"/><Relationship Id="rId11" Type="http://schemas.openxmlformats.org/officeDocument/2006/relationships/font" Target="fonts/Montserrat-bold.fntdata"/><Relationship Id="rId12" Type="http://schemas.openxmlformats.org/officeDocument/2006/relationships/font" Target="fonts/Montserrat-italic.fntdata"/><Relationship Id="rId13" Type="http://schemas.openxmlformats.org/officeDocument/2006/relationships/font" Target="fonts/Montserrat-boldItalic.fntdata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 (min 0-3). Proyectada desde antes de las 15:00. Decir textualmente las tres reglas; no explicar nada mas: el objetivo es que escaneen el QR y que CloudShell empiece a arrancar. Pedir dos conteos de manos (laptop / cuenta AWS) y anotar el numero: decide el plan de recorte. Presentar a los helpers por nombre. PENDIENTE: reemplazar el cuadro QR por la imagen real y &lt;URL-CORTA&gt;.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 (min 1-3). Hoy no se instala nada mas que boto3 (ya viene en CloudShell) y el AWS CLI no se usa. El bonus Bedrock es solo demo: la mayoria no podra ejecutarlo en vivo por el formulario de caso de uso de Anthropic. Honestidad desde el minuto 1. El JSON final es el mismo con o sin cuenta AWS.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 min (min 3-10). Hotspot propio, terminal a 24 pt. (1) mostrar la factura impresa; (2) si la prueba de T-2h salio bien, fotografiar ahora y pasar por AirDrop a docs/factura_foto_vivo.jpg; si no, usar docs/factura_foto_real.jpg sin comentarlo (si tampoco existe: docs/factura_foto.jpg); (3) teclear los tres comandos; (4) abrir el overlay PNG y el JSON con REVISAR. Todo sale de cache/: como maximo una llamada real. Nunca depurar en escena: si algo falla, --offline. CIFRAS REALES (fixtures grabados el 4-sep-2026, us-east-1): la foto sale OK con 0 alertas porque Textract la lee casi tan bien como el original. NO prometer alertas de la foto: si la foto en vivo sale peor, mejor todavia, pero el caso que si dispara alertas es factura_trampa. Guion: "el OCR es perfecto y aun asi el documento esta mal" -&gt; por eso la tercera ejecucion es factura_trampa.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min (min 10-18). El bloque mas importante: caminar por la sala con los helpers. 00_check.py imprime el account id porque sts:GetCallerIdentity no requiere permisos, y la region porque Textract no existe en sa-east-1. Cualquier otro error sale en rojo con la linea --offline. Min 16: semaforo de manos; con mas del 30 % en rojo, Lab 3 pasa a demo y el bonus se elimina. PENDIENTE: reemplazar &lt;URL-REPO&gt;.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 (min 18-20). Abrir el fixture fixtures/factura_limpia/detect_document_text.json y senalar un PAGE, un LINE con Relationships CHILD y un WORD con Confidence y BoundingBox. Luego las 8 lineas. La version completa de texto() convierte SELECTION_ELEMENT en [X] / [ ].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 (min 20-22). Una frase por fila. Anticipar la pregunta de las cedulas. Queries sobre espanol esta fuera del soporte oficial: hoy lo probamos y por eso combinamos fuentes. Fuentes: limits-document.html, API_Query.html, FAQ de Textract y AWS General Reference, verificado el 2-sep-2026.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 min (min 22-32). Live coding LENTO (sin copy-paste) de texto() y del bucle sobre LINE (5 min). Ejecutar los dos comandos y mostrar la caida de confianza media entre limpia y foto. Overlay desde la Mac: CloudShell no muestra imagenes. DetectDocumentText es la operacion barata (25 TPS, US$ 0.0015/pag, Oregon aprox.): por eso es el ejercicio masivo. CIFRAS REALES: limpia LINE 98.9 / WORD 98.7 con 5 palabras por debajo de 90 sobre 172; foto LINE 97.3 / WORD 96.2 con 20 palabras por debajo de 90 sobre 173. La caida existe pero es pequena: el mensaje honesto es "Textract es robusto, la degradacion se ve en el CONTEO de palabras dudosas (5 -&gt; 20), no en la media". Ejercicio de 2 min: listar palabras con Confidence &lt; 90 y luego &lt; 95.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min (min 28-32), dentro del Lab 1. CIFRAS REALES: 98.7 en la limpia y 96.2 en la foto (media por palabra); 5 palabras por debajo de 90 sobre 172 en la limpia y 20 sobre 173 en la foto. Decirlo tal cual: esperabamos un desplome y no lo hubo, Textract es robusto con la foto degradada. Lo que si cambia es CUANTAS palabras quedan por debajo del umbral: de 5 a 20, cuatro veces mas cola de revision. Con 90 o mas en montos e identificadores tomamos decisiones; por debajo, cola de revision. Ejercicio de 2 min: listar las palabras por debajo de 95 en la foto y comentar cuales importan (montos, clave de acceso) y cuales no (direccion).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11 min (min 35-46). Unico momento en que la sala escribe codigo: ir despacio. Explicar en 1 min KEY/VALUE (EntityTypes, relacion VALUE) y CELL (RowIndex/ColumnIndex). Live coding del TODO. Ejecutar sobre factura_limpia: el script compara el TODO con bloques.pares_clave_valor. Luego formulario_inscripcion: Track "Workshop OCR" [X], cuenta AWS "Si" [X], Nivel "Intermedio" [X]. Las claves vienen con ":" y tildes; por eso se normalizan.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 exactos (min 46-48). Semaforo de manos; anunciar en voz alta la decision A o B. Si el reloj va mas de 3 minutos atrasado: Lab 3 pasa a demo con ejecucion opcional y se elimina el bonus. Nunca tocar el Lab 4 corto ni los 3 minutos de cierre.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 min (min 48-55). Mostrar textract_lab/queries.py (7 queries, alias en MAYUSCULAS ASCII, "FECHA EMISION" sin tilde a proposito) y explicar en 30 s por que ingles y ASCII: el patron de Query.Text rechaza tildes y signos de apertura. DATO REAL: las 7 queries en ingles SI respondieron sobre la factura en espanol (RUC_EMISOR 99.0, NUM_FACTURA 97.0, FECHA_EMISION 98.0, SUBTOTAL_15 96.0, IVA_15 99.0, VALOR_TOTAL 98.0). Decirlo asi: funciono, pero esta fuera del soporte oficial y por eso combinamos fuentes. Y el ejemplo de por que se combinan es real: en CLAVE_ACCESO, el campo mas largo (49 digitos), QUERIES baja a 83.0 y FORMS da 95.0, asi que gana FORMS; SUBTOTAL_SIN_IMPUESTOS y PROPINA tambien los aporta FORMS porque Queries ni los pide. Ejercicio de 2 min: fecha_no_futura(campos) en VALIDADORES_EXTRA.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 (min 52-55), dentro del Lab 3. ESTE es el momento fuerte del taller, porque con los fixtures reales la foto sale OK con 0 alertas: el unico documento que dispara alertas es factura_trampa. Transparencia total: "estos dos errores los puse yo en el documento: el item 2 dice 95.60 en vez de 85.60 y la clave termina en 4 en vez de 3; el OCR fue perfecto -- 99.8, 99.9 y 94.8, las tres cajas verdes -- y el sistema igual los atrapo". Las dos alertas reales, textualmente: "clave de acceso con digito verificador invalido (esperado 3, leido 4)" e "items no suman el subtotal: items 831.60 vs SUBTOTAL 821.60". Mensaje: OCR + validacion determinista = sistema inteligente sin LLM. Si se ejecuta tambien sobre la foto, saldra 0 alertas: no prometer lo contrario, es justamente el argumento de por que existe la trampa. A2I esta en mantenimiento desde julio 2026: la cola de revision es propia.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min (min 55-59): ejecutar y senalar. Un pipeline es una lista de funciones ctx a ctx. clasificar.py es trivial a proposito (SELECTION_ELEMENT -&gt; formulario, "CLAVE DE ACCESO" -&gt; factura, nada -&gt; desconocido); el valor esta en que el resto no cambia al reemplazarlo. CIFRAS REALES: 3 OK y 3 REVISAR. La foto entra en el grupo OK: es el dato que sorprende y hay que decirlo en voz alta ("Textract la leyo bien"). Anticipar "por que mini sale REVISAR": no es factura ni formulario, y un tipo desconocido siempre va a revision; lo mismo orden_compra_prosa. Mostrar salida/resumen.json. Quien va atrasado igual puede correrlo: usa la libreria.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 min (min 59-64). Primera candidata a recorte. Teclear 05_bonus_bedrock.py con docs/orden_compra_prosa.png y luego con la foto. Si tarda mas de 20 s o falla: --modelo nova; si falla: --offline. Nunca depurar en escena. El esquema se precalienta con tools/precalentar_esquema.py. Via de escape: bedrock-mantle no exige el formulario pero requiere el SDK anthropic; no lo usamos.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min (min 61-63). Este es el criterio que la gente se lleva, y con los fixtures reales el argumento es mucho mas fuerte de lo previsto: esperabamos que las 3 queries quedaran vacias sobre la carta y no fue asi. PROVEEDOR devolvio "Gerente de Compras" con 60.0 (es el cargo de quien firma, Maria Jose Cabrera, del lado del comprador, no el proveedor Tecnologia Andina Ejemplo S.A.) y CANT_MONITORES devolvio "27" con 99.0 (27 son las PULGADAS del monitor; la cantidad es 3). Solo TOTAL_COMPRA se quedo sin respuesta, y eso si es correcto: el total 1221.20 no esta escrito, hay que calcularlo. Frase clave: "una respuesta incorrecta con 99 % de confianza". De ahi salen las dos conclusiones: (a) para prosa hace falta un LLM, y (b) el LLM tampoco decide solo, todo pasa por los validadores. Advertir que una "correccion" del LLM puede pasar el modulo 11 y aun asi ser falsa: por eso toda correccion se etiqueta como alerta para un revisor humano.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Maximo 2 min (min 63-64); no abrir debate. Respuesta preparada a "por que me ensenas Textract y no un LLM multimodal": OCR barato (US$ 0.0015/pag texto), determinista, con geometria y confianza por palabra, espanol impreso soportado; y la capa propia que construimos hoy (Campo, validadores, ETAPAS) se alimenta igual de BDA o de un LLM manana sin reescribir nada. Textract sin anuncio de mantenimiento al 2-sep-2026; A2I si esta en mantenimiento.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 (min 64-67). Insistir en borrar claves y en el presupuesto (AWS Budgets se actualiza cada 8-12 h: no frena gasto en tiempo real). Recordar los limites honestos en una frase. Mostrar el costo real de la sesion con cat cache/.costos.json; ultima llamada al QR; repartir el cheat sheet impreso.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 (min 67-70): 2 o 3 preguntas cortas. Invitar a continuar en el pasillo y en el canal del AWS User Group Ecuador. Recoger la factura impresa y los cheat sheets sobrantes. Cerrar CloudShell. PENDIENTE: reemplazar el cuadro QR por la imagen real, &lt;URL-CORTA&gt; y &lt;CONTACTO-PONENTE&gt;.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0"/>
            <a:ext cx="9230868" cy="5143500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00253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074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FD8"/>
                </a:solidFill>
                <a:latin typeface="Arial"/>
              </a:rPr>
              <a:t>AWS COMMUNITY DAY ECUADOR 2026  ·  WORKSHOP</a:t>
            </a:r>
          </a:p>
          <a:p>
            <a:pPr algn="l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rial"/>
              </a:rPr>
              <a:t>Construye un sistema inteligente de OCR con Amazon Textract y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35808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AF0"/>
                </a:solidFill>
                <a:latin typeface="Arial"/>
              </a:rPr>
              <a:t>Manuel Josue  ·  Sábado 5 de septiembre  ·  15:00–16:10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A8B0C8"/>
                </a:solidFill>
                <a:latin typeface="Arial"/>
              </a:rPr>
              <a:t>Auditorio Luis Alberto Luna  ·  UPS Cuenca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1188720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8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67335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338"/>
                </a:solidFill>
                <a:latin typeface="Arial"/>
              </a:rPr>
              <a:t>QR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076"/>
                </a:solidFill>
                <a:latin typeface="Arial"/>
              </a:rPr>
              <a:t>github.com/&lt;usuario&gt;/
textract-ec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188720"/>
            <a:ext cx="11430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98FD8"/>
                </a:solidFill>
                <a:latin typeface="Arial"/>
              </a:rPr>
              <a:t>ABRE ESTO AHORA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&lt;URL-CORTA&gt;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2884932"/>
            <a:ext cx="91440" cy="91440"/>
          </a:xfrm>
          <a:prstGeom prst="rect">
            <a:avLst/>
          </a:prstGeom>
          <a:solidFill>
            <a:srgbClr val="C98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25896" y="2834640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Sin laptop: </a:t>
            </a:r>
            <a:r>
              <a:rPr sz="1000" b="0" i="0">
                <a:solidFill>
                  <a:srgbClr val="E8EAF0"/>
                </a:solidFill>
                <a:latin typeface="Arial"/>
              </a:rPr>
              <a:t>siéntate con alguien que sí tenga.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3351276"/>
            <a:ext cx="91440" cy="91440"/>
          </a:xfrm>
          <a:prstGeom prst="rect">
            <a:avLst/>
          </a:prstGeom>
          <a:solidFill>
            <a:srgbClr val="C98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25896" y="3300984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Sin cuenta AWS: </a:t>
            </a:r>
            <a:r>
              <a:rPr sz="1000" b="0" i="0">
                <a:solidFill>
                  <a:srgbClr val="E8EAF0"/>
                </a:solidFill>
                <a:latin typeface="Arial"/>
              </a:rPr>
              <a:t>funciona igual, en modo offline.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3817620"/>
            <a:ext cx="91440" cy="91440"/>
          </a:xfrm>
          <a:prstGeom prst="rect">
            <a:avLst/>
          </a:prstGeom>
          <a:solidFill>
            <a:srgbClr val="C98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25896" y="3767328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Con cuenta: </a:t>
            </a:r>
            <a:r>
              <a:rPr sz="1000" b="0" i="0">
                <a:solidFill>
                  <a:srgbClr val="E8EAF0"/>
                </a:solidFill>
                <a:latin typeface="Arial"/>
              </a:rPr>
              <a:t>abre CloudShell en us-east-1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1  ·  EL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Qué vas a construir hoy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73352"/>
            <a:ext cx="1938528" cy="713232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792224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338"/>
                </a:solidFill>
                <a:latin typeface="Arial"/>
              </a:rPr>
              <a:t>Imagen o foto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factura, formulario, carta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18928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B2D8E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1673352"/>
            <a:ext cx="1938528" cy="713232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792224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338"/>
                </a:solidFill>
                <a:latin typeface="Arial"/>
              </a:rPr>
              <a:t>Amazon Textract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texto, formularios, tablas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8928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B2D8E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1673352"/>
            <a:ext cx="1938528" cy="713232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1792224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338"/>
                </a:solidFill>
                <a:latin typeface="Arial"/>
              </a:rPr>
              <a:t>Python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estructura y valida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18928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B2D8E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1673352"/>
            <a:ext cx="1938528" cy="713232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4" y="1792224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B2D8E"/>
                </a:solidFill>
                <a:latin typeface="Arial"/>
              </a:rPr>
              <a:t>JSON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estado OK o REVISAR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06040"/>
            <a:ext cx="813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B2D8E"/>
                </a:solidFill>
                <a:latin typeface="Arial"/>
              </a:rPr>
              <a:t>Inteligente</a:t>
            </a:r>
            <a:r>
              <a:rPr sz="1300" b="0" i="0">
                <a:solidFill>
                  <a:srgbClr val="1A1F33"/>
                </a:solidFill>
                <a:latin typeface="Arial"/>
              </a:rPr>
              <a:t> = mide su confianza  +  combina fuentes  +  valida con reglas ecuatorianas (el LLM es opcional).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23260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3172968"/>
            <a:ext cx="79187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338"/>
                </a:solidFill>
                <a:latin typeface="Arial"/>
              </a:rPr>
              <a:t>Agenda (70 min): </a:t>
            </a:r>
            <a:r>
              <a:rPr sz="1250" b="0" i="0">
                <a:solidFill>
                  <a:srgbClr val="1A1F33"/>
                </a:solidFill>
                <a:latin typeface="Arial"/>
              </a:rPr>
              <a:t>demo 7  ·  checkpoint 0 · 8  ·  Labs 1-4 · 32  ·  bonus Bedrock · 5  ·  cierre ·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643884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3593592"/>
            <a:ext cx="79187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338"/>
                </a:solidFill>
                <a:latin typeface="Arial"/>
              </a:rPr>
              <a:t>Las 3 reglas: </a:t>
            </a:r>
            <a:r>
              <a:rPr sz="1250" b="0" i="0">
                <a:solidFill>
                  <a:srgbClr val="1A1F33"/>
                </a:solidFill>
                <a:latin typeface="Arial"/>
              </a:rPr>
              <a:t>pairing  ·  semáforo de manos  ·  --offline vale tanto como --online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064508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4014216"/>
            <a:ext cx="79187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338"/>
                </a:solidFill>
                <a:latin typeface="Arial"/>
              </a:rPr>
              <a:t>Hoy no se instala nada </a:t>
            </a:r>
            <a:r>
              <a:rPr sz="1250" b="0" i="0">
                <a:solidFill>
                  <a:srgbClr val="1A1F33"/>
                </a:solidFill>
                <a:latin typeface="Arial"/>
              </a:rPr>
              <a:t>salvo boto3, que ya viene en CloudShell. El AWS CLI no se usa.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0"/>
            <a:ext cx="9230868" cy="5143500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00253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8FD8"/>
                </a:solidFill>
                <a:latin typeface="Arial"/>
              </a:rPr>
              <a:t>MIN 3  · 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5214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De la foto al JSON validado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19072"/>
            <a:ext cx="4892040" cy="932688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819656"/>
            <a:ext cx="4599431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8EAF0"/>
                </a:solidFill>
                <a:latin typeface="Courier New"/>
              </a:rPr>
              <a:t>python3 01_texto.py docs/factura_foto_real.jpg --overlay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8EAF0"/>
                </a:solidFill>
                <a:latin typeface="Courier New"/>
              </a:rPr>
              <a:t>python3 03_inteligente.py docs/factura_foto_real.jpg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8EAF0"/>
                </a:solidFill>
                <a:latin typeface="Courier New"/>
              </a:rPr>
              <a:t>python3 03_inteligente.py docs/factura_trampa.png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4754880" cy="1097280"/>
          </a:xfrm>
          <a:prstGeom prst="rect">
            <a:avLst/>
          </a:prstGeom>
          <a:solidFill>
            <a:srgbClr val="F7F7FA"/>
          </a:solidFill>
          <a:ln w="9525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980944"/>
            <a:ext cx="199704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658"/>
                </a:solidFill>
                <a:latin typeface="Courier New"/>
              </a:rPr>
              <a:t>CLAVE DE ACCESO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0553" y="2944368"/>
            <a:ext cx="1925726" cy="237744"/>
          </a:xfrm>
          <a:prstGeom prst="rect">
            <a:avLst/>
          </a:prstGeom>
          <a:noFill/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3705" y="2980944"/>
            <a:ext cx="18342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F33"/>
                </a:solidFill>
                <a:latin typeface="Courier New"/>
              </a:rPr>
              <a:t>...1234567813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98094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4B"/>
                </a:solidFill>
                <a:latin typeface="Courier New"/>
              </a:rPr>
              <a:t>92.4%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255263"/>
            <a:ext cx="199704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658"/>
                </a:solidFill>
                <a:latin typeface="Courier New"/>
              </a:rPr>
              <a:t>SUBTOTAL 15%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0553" y="3218688"/>
            <a:ext cx="1925726" cy="237744"/>
          </a:xfrm>
          <a:prstGeom prst="rect">
            <a:avLst/>
          </a:prstGeom>
          <a:noFill/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3705" y="3255263"/>
            <a:ext cx="18342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F33"/>
                </a:solidFill>
                <a:latin typeface="Courier New"/>
              </a:rPr>
              <a:t>821.60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255263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4B"/>
                </a:solidFill>
                <a:latin typeface="Courier New"/>
              </a:rPr>
              <a:t>99.9%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529583"/>
            <a:ext cx="199704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658"/>
                </a:solidFill>
                <a:latin typeface="Courier New"/>
              </a:rPr>
              <a:t>VALOR TOTAL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0553" y="3493008"/>
            <a:ext cx="1925726" cy="237744"/>
          </a:xfrm>
          <a:prstGeom prst="rect">
            <a:avLst/>
          </a:prstGeom>
          <a:noFill/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3705" y="3529583"/>
            <a:ext cx="18342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F33"/>
                </a:solidFill>
                <a:latin typeface="Courier New"/>
              </a:rPr>
              <a:t>944.84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3529583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4B"/>
                </a:solidFill>
                <a:latin typeface="Courier New"/>
              </a:rPr>
              <a:t>99.8%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0050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EAF0"/>
                </a:solidFill>
                <a:latin typeface="Arial"/>
              </a:rPr>
              <a:t>En 60 minutos ustedes construyen esto. Y funciona aunque no tengan cuenta AWS.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1719072"/>
            <a:ext cx="3108960" cy="640080"/>
          </a:xfrm>
          <a:prstGeom prst="roundRect">
            <a:avLst>
              <a:gd name="adj" fmla="val 6000"/>
            </a:avLst>
          </a:prstGeom>
          <a:solidFill>
            <a:srgbClr val="14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78424" y="1837943"/>
            <a:ext cx="2816352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ED19A"/>
                </a:solidFill>
                <a:latin typeface="Arial"/>
              </a:rPr>
              <a:t>factura_limpia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A8B0C8"/>
                </a:solidFill>
                <a:latin typeface="Arial"/>
              </a:rPr>
              <a:t>estado OK  ·  0 alertas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32120" y="2450591"/>
            <a:ext cx="3108960" cy="804672"/>
          </a:xfrm>
          <a:prstGeom prst="roundRect">
            <a:avLst>
              <a:gd name="adj" fmla="val 6000"/>
            </a:avLst>
          </a:prstGeom>
          <a:solidFill>
            <a:srgbClr val="14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78424" y="2569463"/>
            <a:ext cx="28163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ED19A"/>
                </a:solidFill>
                <a:latin typeface="Arial"/>
              </a:rPr>
              <a:t>factura_foto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A8B0C8"/>
                </a:solidFill>
                <a:latin typeface="Arial"/>
              </a:rPr>
              <a:t>estado OK  ·  0 alertas
el celular lee casi igual de bien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3328415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14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78424" y="3447287"/>
            <a:ext cx="28163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0B44C"/>
                </a:solidFill>
                <a:latin typeface="Arial"/>
              </a:rPr>
              <a:t>factura_trampa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A8B0C8"/>
                </a:solidFill>
                <a:latin typeface="Arial"/>
              </a:rPr>
              <a:t>estado REVISAR  ·  2 alertas
clave inválida  ·  ítems ≠ subtotal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10  ·  CHECKPOINT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Tu cuenta, tu región y tu modo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73352"/>
            <a:ext cx="4617720" cy="932688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773936"/>
            <a:ext cx="4325112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8EAF0"/>
                </a:solidFill>
                <a:latin typeface="Courier New"/>
              </a:rPr>
              <a:t>git clone --depth 1 &lt;URL-REPO&gt; &amp;&amp; cd textract-ec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8EAF0"/>
                </a:solidFill>
                <a:latin typeface="Courier New"/>
              </a:rPr>
              <a:t>python3 00_check.py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8EAF0"/>
                </a:solidFill>
                <a:latin typeface="Courier New"/>
              </a:rPr>
              <a:t>python3 -m pip install --user pillow   </a:t>
            </a:r>
            <a:r>
              <a:rPr sz="1000">
                <a:solidFill>
                  <a:srgbClr val="A8B0C8"/>
                </a:solidFill>
                <a:latin typeface="Courier New"/>
              </a:rPr>
              <a:t># opcional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34056"/>
            <a:ext cx="4617720" cy="658368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852928"/>
            <a:ext cx="432511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730B"/>
                </a:solidFill>
                <a:latin typeface="Arial"/>
              </a:rPr>
              <a:t>Timed out while opening the session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CloudShell bloqueado por el proxy: laptop propia o el zip del USB.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65576"/>
            <a:ext cx="4617720" cy="658368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3584448"/>
            <a:ext cx="432511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3312B"/>
                </a:solidFill>
                <a:latin typeface="Arial"/>
              </a:rPr>
              <a:t>Rojo: AccessDenied / EndpointConnection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python3 00_check.py --offline  y sigues el taller igual.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1673352"/>
            <a:ext cx="3246120" cy="1298448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1264" y="1773936"/>
            <a:ext cx="2953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0C8"/>
                </a:solidFill>
                <a:latin typeface="Arial"/>
              </a:rPr>
              <a:t>CON CUENTA 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1264" y="1975104"/>
            <a:ext cx="2953512" cy="905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50">
                <a:solidFill>
                  <a:srgbClr val="E8EAF0"/>
                </a:solidFill>
                <a:latin typeface="Courier New"/>
              </a:rPr>
              <a:t>[ONLINE us-east-1 - perfil personal]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50">
                <a:solidFill>
                  <a:srgbClr val="E8EAF0"/>
                </a:solidFill>
                <a:latin typeface="Courier New"/>
              </a:rPr>
              <a:t>Python 3.10 - boto3 1.43 - cuenta 7788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50">
                <a:solidFill>
                  <a:srgbClr val="E8EAF0"/>
                </a:solidFill>
                <a:latin typeface="Courier New"/>
              </a:rPr>
              <a:t>DetectDocumentText mini.png: 4 lineas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50">
                <a:solidFill>
                  <a:srgbClr val="E8EAF0"/>
                </a:solidFill>
                <a:latin typeface="Courier New"/>
              </a:rPr>
              <a:t>español con tildes y ñ leído OK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50">
                <a:solidFill>
                  <a:srgbClr val="E8EAF0"/>
                </a:solidFill>
                <a:latin typeface="Courier New"/>
              </a:rPr>
              <a:t>LISTO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3099816"/>
            <a:ext cx="3246120" cy="914400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1264" y="3200400"/>
            <a:ext cx="2953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0C8"/>
                </a:solidFill>
                <a:latin typeface="Arial"/>
              </a:rPr>
              <a:t>SIN CUENTA AWS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1264" y="3401568"/>
            <a:ext cx="29535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50">
                <a:solidFill>
                  <a:srgbClr val="E8EAF0"/>
                </a:solidFill>
                <a:latin typeface="Courier New"/>
              </a:rPr>
              <a:t>[OFFLINE - fixtures reales 2026-09-04]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50">
                <a:solidFill>
                  <a:srgbClr val="E8EAF0"/>
                </a:solidFill>
                <a:latin typeface="Courier New"/>
              </a:rPr>
              <a:t>fixtures/MANIFEST.sha256: OK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50">
                <a:solidFill>
                  <a:srgbClr val="E8EAF0"/>
                </a:solidFill>
                <a:latin typeface="Courier New"/>
              </a:rPr>
              <a:t>LISTO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813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076"/>
                </a:solidFill>
                <a:latin typeface="Arial"/>
              </a:rPr>
              <a:t>Sin credenciales cae solo a OFFLINE con un aviso amarillo: es lo esperado, no un error.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18  ·  MODELO 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La respuesta de Textract es un grafo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73352"/>
            <a:ext cx="4160520" cy="1810512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773936"/>
            <a:ext cx="3867911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PAGE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|- CHILD -&gt; LINE -- CHILD -&gt; WORD   (Text, Confidence)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|- CHILD -&gt; KEY_VALUE_SET [KEY] -- VALUE -&gt; [VALUE]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|- CHILD -&gt; TABLE -- CHILD -&gt; CELL (RowIndex, ColIndex)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\- CHILD -&gt; QUERY -- ANSWER -&gt; QUERY_RESULT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Block = { Id, BlockType, Confidence 0-100,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      Geometry.BoundingBox 0-1,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      Relationships[{Type, Ids}]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673352"/>
            <a:ext cx="3794760" cy="1810512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2624" y="1773936"/>
            <a:ext cx="3502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0C8"/>
                </a:solidFill>
                <a:latin typeface="Arial"/>
              </a:rPr>
              <a:t>textract_lab/bloques.py — las 8 líneas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1975104"/>
            <a:ext cx="3502152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def indice(resp):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    return {b[</a:t>
            </a:r>
            <a:r>
              <a:rPr sz="800">
                <a:solidFill>
                  <a:srgbClr val="F0B44C"/>
                </a:solidFill>
                <a:latin typeface="Courier New"/>
              </a:rPr>
              <a:t>'Id'</a:t>
            </a:r>
            <a:r>
              <a:rPr sz="800">
                <a:solidFill>
                  <a:srgbClr val="E8EAF0"/>
                </a:solidFill>
                <a:latin typeface="Courier New"/>
              </a:rPr>
              <a:t>]: b for b in resp[</a:t>
            </a:r>
            <a:r>
              <a:rPr sz="800">
                <a:solidFill>
                  <a:srgbClr val="F0B44C"/>
                </a:solidFill>
                <a:latin typeface="Courier New"/>
              </a:rPr>
              <a:t>'Blocks'</a:t>
            </a:r>
            <a:r>
              <a:rPr sz="800">
                <a:solidFill>
                  <a:srgbClr val="E8EAF0"/>
                </a:solidFill>
                <a:latin typeface="Courier New"/>
              </a:rPr>
              <a:t>]}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def hijos(b, by_id, tipo=</a:t>
            </a:r>
            <a:r>
              <a:rPr sz="800">
                <a:solidFill>
                  <a:srgbClr val="F0B44C"/>
                </a:solidFill>
                <a:latin typeface="Courier New"/>
              </a:rPr>
              <a:t>'CHILD'</a:t>
            </a:r>
            <a:r>
              <a:rPr sz="800">
                <a:solidFill>
                  <a:srgbClr val="E8EAF0"/>
                </a:solidFill>
                <a:latin typeface="Courier New"/>
              </a:rPr>
              <a:t>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    return [by_id[i] for r in b.get(</a:t>
            </a:r>
            <a:r>
              <a:rPr sz="800">
                <a:solidFill>
                  <a:srgbClr val="F0B44C"/>
                </a:solidFill>
                <a:latin typeface="Courier New"/>
              </a:rPr>
              <a:t>'Relationships'</a:t>
            </a:r>
            <a:r>
              <a:rPr sz="800">
                <a:solidFill>
                  <a:srgbClr val="E8EAF0"/>
                </a:solidFill>
                <a:latin typeface="Courier New"/>
              </a:rPr>
              <a:t>, [])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            if r[</a:t>
            </a:r>
            <a:r>
              <a:rPr sz="800">
                <a:solidFill>
                  <a:srgbClr val="F0B44C"/>
                </a:solidFill>
                <a:latin typeface="Courier New"/>
              </a:rPr>
              <a:t>'Type'</a:t>
            </a:r>
            <a:r>
              <a:rPr sz="800">
                <a:solidFill>
                  <a:srgbClr val="E8EAF0"/>
                </a:solidFill>
                <a:latin typeface="Courier New"/>
              </a:rPr>
              <a:t>] == tipo for i in r[</a:t>
            </a:r>
            <a:r>
              <a:rPr sz="800">
                <a:solidFill>
                  <a:srgbClr val="F0B44C"/>
                </a:solidFill>
                <a:latin typeface="Courier New"/>
              </a:rPr>
              <a:t>'Ids'</a:t>
            </a:r>
            <a:r>
              <a:rPr sz="800">
                <a:solidFill>
                  <a:srgbClr val="E8EAF0"/>
                </a:solidFill>
                <a:latin typeface="Courier New"/>
              </a:rPr>
              <a:t>]]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def texto(b, by_id):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    return </a:t>
            </a:r>
            <a:r>
              <a:rPr sz="800">
                <a:solidFill>
                  <a:srgbClr val="F0B44C"/>
                </a:solidFill>
                <a:latin typeface="Courier New"/>
              </a:rPr>
              <a:t>' '</a:t>
            </a:r>
            <a:r>
              <a:rPr sz="800">
                <a:solidFill>
                  <a:srgbClr val="E8EAF0"/>
                </a:solidFill>
                <a:latin typeface="Courier New"/>
              </a:rPr>
              <a:t>.join(w[</a:t>
            </a:r>
            <a:r>
              <a:rPr sz="800">
                <a:solidFill>
                  <a:srgbClr val="F0B44C"/>
                </a:solidFill>
                <a:latin typeface="Courier New"/>
              </a:rPr>
              <a:t>'Text'</a:t>
            </a:r>
            <a:r>
              <a:rPr sz="800">
                <a:solidFill>
                  <a:srgbClr val="E8EAF0"/>
                </a:solidFill>
                <a:latin typeface="Courier New"/>
              </a:rPr>
              <a:t>] for w in hijos(b, by_id)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                    if w[</a:t>
            </a:r>
            <a:r>
              <a:rPr sz="800">
                <a:solidFill>
                  <a:srgbClr val="F0B44C"/>
                </a:solidFill>
                <a:latin typeface="Courier New"/>
              </a:rPr>
              <a:t>'BlockType'</a:t>
            </a:r>
            <a:r>
              <a:rPr sz="800">
                <a:solidFill>
                  <a:srgbClr val="E8EAF0"/>
                </a:solidFill>
                <a:latin typeface="Courier New"/>
              </a:rPr>
              <a:t>] == </a:t>
            </a:r>
            <a:r>
              <a:rPr sz="800">
                <a:solidFill>
                  <a:srgbClr val="F0B44C"/>
                </a:solidFill>
                <a:latin typeface="Courier New"/>
              </a:rPr>
              <a:t>'WORD'</a:t>
            </a:r>
            <a:r>
              <a:rPr sz="800">
                <a:solidFill>
                  <a:srgbClr val="E8EAF0"/>
                </a:solidFill>
                <a:latin typeface="Courier New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81381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338"/>
                </a:solidFill>
                <a:latin typeface="Arial"/>
              </a:rPr>
              <a:t>Los hijos no conocen a su padre: </a:t>
            </a:r>
            <a:r>
              <a:rPr sz="1250" b="0" i="0">
                <a:solidFill>
                  <a:srgbClr val="1A1F33"/>
                </a:solidFill>
                <a:latin typeface="Arial"/>
              </a:rPr>
              <a:t>se construye el índice by_id una vez y se navega de arriba hacia abajo con hijos(). Esta pieza resuelve el 90 % del parseo; todo lo demás son variaciones de la misma función.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20  ·  LA LETRA PEQUEÑA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Los límites que importan hoy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673352"/>
          <a:ext cx="8138158" cy="239572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39"/>
                <a:gridCol w="6903719"/>
              </a:tblGrid>
              <a:tr h="34224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Tema</a:t>
                      </a:r>
                    </a:p>
                  </a:txBody>
                  <a:tcPr marL="73152" marR="73152" marT="32004" marB="32004" anchor="ctr">
                    <a:solidFill>
                      <a:srgbClr val="0B1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Lo que aplica hoy</a:t>
                      </a:r>
                    </a:p>
                  </a:txBody>
                  <a:tcPr marL="73152" marR="73152" marT="32004" marB="32004" anchor="ctr">
                    <a:solidFill>
                      <a:srgbClr val="0B1338"/>
                    </a:solidFill>
                  </a:tcPr>
                </a:tc>
              </a:tr>
              <a:tr h="34224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Síncrono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1 página por llamada  ·  menos de 10 MB  ·  PNG, JPEG, PDF, TIFF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34224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Idiomas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Impreso en español: </a:t>
                      </a:r>
                      <a:r>
                        <a:rPr sz="1050" b="1">
                          <a:solidFill>
                            <a:srgbClr val="1A1F33"/>
                          </a:solidFill>
                          <a:latin typeface="Arial"/>
                        </a:rPr>
                        <a:t>SÍ</a:t>
                      </a: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 (á é í ó ú ñ ¿ ¡)  ·  manuscrito, AnalyzeExpense y AnalyzeID: solo inglés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</a:tr>
              <a:tr h="34224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Queries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Solo inglés y </a:t>
                      </a:r>
                      <a:r>
                        <a:rPr sz="1050" b="1">
                          <a:solidFill>
                            <a:srgbClr val="1A1F33"/>
                          </a:solidFill>
                          <a:latin typeface="Arial"/>
                        </a:rPr>
                        <a:t>ASCII puro</a:t>
                      </a: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 (sin tildes ni ñ)  ·  máx. 15 por página  ·  hasta 200 caracteres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34224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Región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A1F33"/>
                          </a:solidFill>
                          <a:latin typeface="Arial"/>
                        </a:rPr>
                        <a:t>us-east-1</a:t>
                      </a: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  ·  Textract no existe en sa-east-1 (São Paulo)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</a:tr>
              <a:tr h="34224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Cuotas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DetectDocumentText 25 TPS  ·  AnalyzeDocument 10 TPS por cuenta (ajustables)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34224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Asíncrono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F33"/>
                          </a:solidFill>
                          <a:latin typeface="Arial"/>
                        </a:rPr>
                        <a:t>Solo desde S3 en la misma región  ·  hasta 3.000 páginas  ·  hoy no lo usamos (extra/07_async_s3.py)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197096"/>
            <a:ext cx="813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AnalyzeID no sirve para cédulas ecuatorianas: solo pasaportes y licencias de EE. UU. Para eso usamos FORMS y QUERIES.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22  ·  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DetectDocumentText y confianza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73352"/>
            <a:ext cx="4709160" cy="658368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773936"/>
            <a:ext cx="4416552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8EAF0"/>
                </a:solidFill>
                <a:latin typeface="Courier New"/>
              </a:rPr>
              <a:t>python3 01_texto.py docs/factura_limpia.png --overlay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E8EAF0"/>
                </a:solidFill>
                <a:latin typeface="Courier New"/>
              </a:rPr>
              <a:t>python3 01_texto.py docs/factura_foto.jpg --overlay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59736"/>
            <a:ext cx="4709160" cy="1463040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560320"/>
            <a:ext cx="4416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0C8"/>
                </a:solidFill>
                <a:latin typeface="Arial"/>
              </a:rPr>
              <a:t>01_texto.py — el núcleo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761488"/>
            <a:ext cx="441655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from textract_lab.cliente import llamar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from textract_lab.bloques import lineas, confianza_media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from textract_lab.consola import semaforo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resp = llamar(</a:t>
            </a:r>
            <a:r>
              <a:rPr sz="900">
                <a:solidFill>
                  <a:srgbClr val="F0B44C"/>
                </a:solidFill>
                <a:latin typeface="Courier New"/>
              </a:rPr>
              <a:t>'detect_document_text'</a:t>
            </a:r>
            <a:r>
              <a:rPr sz="900">
                <a:solidFill>
                  <a:srgbClr val="E8EAF0"/>
                </a:solidFill>
                <a:latin typeface="Courier New"/>
              </a:rPr>
              <a:t>, documento)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for txt, conf in lineas(resp):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print(semaforo(conf), f</a:t>
            </a:r>
            <a:r>
              <a:rPr sz="900">
                <a:solidFill>
                  <a:srgbClr val="F0B44C"/>
                </a:solidFill>
                <a:latin typeface="Courier New"/>
              </a:rPr>
              <a:t>'{conf:5.1f}'</a:t>
            </a:r>
            <a:r>
              <a:rPr sz="900">
                <a:solidFill>
                  <a:srgbClr val="E8EAF0"/>
                </a:solidFill>
                <a:latin typeface="Courier New"/>
              </a:rPr>
              <a:t>, txt)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1673352"/>
            <a:ext cx="3200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6984" y="1837943"/>
            <a:ext cx="1344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658"/>
                </a:solidFill>
                <a:latin typeface="Courier New"/>
              </a:rPr>
              <a:t>Fecha Emision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85432" y="1801368"/>
            <a:ext cx="1024128" cy="237744"/>
          </a:xfrm>
          <a:prstGeom prst="rect">
            <a:avLst/>
          </a:prstGeom>
          <a:noFill/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837943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F33"/>
                </a:solidFill>
                <a:latin typeface="Courier New"/>
              </a:rPr>
              <a:t>01/09/2026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1" y="1837943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4B"/>
                </a:solidFill>
                <a:latin typeface="Courier New"/>
              </a:rPr>
              <a:t>99.5%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6984" y="2112263"/>
            <a:ext cx="1344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658"/>
                </a:solidFill>
                <a:latin typeface="Courier New"/>
              </a:rPr>
              <a:t>SUBTOTAL 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85432" y="2075688"/>
            <a:ext cx="1024128" cy="237744"/>
          </a:xfrm>
          <a:prstGeom prst="rect">
            <a:avLst/>
          </a:prstGeom>
          <a:noFill/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2112263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F33"/>
                </a:solidFill>
                <a:latin typeface="Courier New"/>
              </a:rPr>
              <a:t>821.60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1" y="2112263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4B"/>
                </a:solidFill>
                <a:latin typeface="Courier New"/>
              </a:rPr>
              <a:t>99.9%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6984" y="2386583"/>
            <a:ext cx="1344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658"/>
                </a:solidFill>
                <a:latin typeface="Courier New"/>
              </a:rPr>
              <a:t>IVA 15%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85432" y="2350008"/>
            <a:ext cx="1024128" cy="237744"/>
          </a:xfrm>
          <a:prstGeom prst="rect">
            <a:avLst/>
          </a:prstGeom>
          <a:noFill/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8584" y="2386583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F33"/>
                </a:solidFill>
                <a:latin typeface="Courier New"/>
              </a:rPr>
              <a:t>123.24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1" y="2386583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4B"/>
                </a:solidFill>
                <a:latin typeface="Courier New"/>
              </a:rPr>
              <a:t>99.8%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86984" y="2660903"/>
            <a:ext cx="1344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658"/>
                </a:solidFill>
                <a:latin typeface="Courier New"/>
              </a:rPr>
              <a:t>VALOR 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85432" y="2624327"/>
            <a:ext cx="1024128" cy="237744"/>
          </a:xfrm>
          <a:prstGeom prst="rect">
            <a:avLst/>
          </a:prstGeom>
          <a:noFill/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58584" y="2660903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F33"/>
                </a:solidFill>
                <a:latin typeface="Courier New"/>
              </a:rPr>
              <a:t>944.84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2711" y="2660903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4B"/>
                </a:solidFill>
                <a:latin typeface="Courier New"/>
              </a:rPr>
              <a:t>99.8%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3154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factura_limpia: 98.7 de media por palabra. La misma factura fotografiada con el celular baja solo a 96.2.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050791"/>
            <a:ext cx="813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Salida: líneas con semáforo  ·  confianza media  ·  palabras por debajo de 90  ·  salida/&lt;doc&gt;.overlay.png con Pillow, o mira docs/salidas/ ya generado.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28  ·  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Confianza: qué es y qué hacer con ella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23644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673352"/>
            <a:ext cx="47183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338"/>
                </a:solidFill>
                <a:latin typeface="Arial"/>
              </a:rPr>
              <a:t>Confidence 0-100 por bloque. </a:t>
            </a:r>
            <a:r>
              <a:rPr sz="1250" b="0" i="0">
                <a:solidFill>
                  <a:srgbClr val="1A1F33"/>
                </a:solidFill>
                <a:latin typeface="Arial"/>
              </a:rPr>
              <a:t>KEY y VALUE comparten confianza.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08860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258568"/>
            <a:ext cx="47183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338"/>
                </a:solidFill>
                <a:latin typeface="Arial"/>
              </a:rPr>
              <a:t>Umbrales que sugiere AWS: </a:t>
            </a:r>
            <a:r>
              <a:rPr sz="1250" b="0" i="0">
                <a:solidFill>
                  <a:srgbClr val="1A1F33"/>
                </a:solidFill>
                <a:latin typeface="Arial"/>
              </a:rPr>
              <a:t>~50 para archivar, 90 o más para decidir.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94076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2843784"/>
            <a:ext cx="47183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338"/>
                </a:solidFill>
                <a:latin typeface="Arial"/>
              </a:rPr>
              <a:t>BoundingBox normalizado 0-1: </a:t>
            </a:r>
            <a:r>
              <a:rPr sz="1250" b="0" i="0">
                <a:solidFill>
                  <a:srgbClr val="1A1F33"/>
                </a:solidFill>
                <a:latin typeface="Arial"/>
              </a:rPr>
              <a:t>píxel = valor × ancho de la imagen.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79292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429000"/>
            <a:ext cx="47183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338"/>
                </a:solidFill>
                <a:latin typeface="Arial"/>
              </a:rPr>
              <a:t>Tolera rotación en el plano. </a:t>
            </a:r>
            <a:r>
              <a:rPr sz="1250" b="0" i="0">
                <a:solidFill>
                  <a:srgbClr val="1A1F33"/>
                </a:solidFill>
                <a:latin typeface="Arial"/>
              </a:rPr>
              <a:t>No corrige perspectiva ni desenfoque.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719072"/>
            <a:ext cx="201168" cy="20116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1691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7F4B"/>
                </a:solidFill>
                <a:latin typeface="Arial"/>
              </a:rPr>
              <a:t>Verde  </a:t>
            </a:r>
            <a:r>
              <a:rPr sz="1200" b="0" i="0">
                <a:solidFill>
                  <a:srgbClr val="1A1F33"/>
                </a:solidFill>
                <a:latin typeface="Arial"/>
              </a:rPr>
              <a:t>90 o más: decides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139696"/>
            <a:ext cx="201168" cy="201168"/>
          </a:xfrm>
          <a:prstGeom prst="rect">
            <a:avLst/>
          </a:prstGeom>
          <a:solidFill>
            <a:srgbClr val="B87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21122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730B"/>
                </a:solidFill>
                <a:latin typeface="Arial"/>
              </a:rPr>
              <a:t>Ámbar  </a:t>
            </a:r>
            <a:r>
              <a:rPr sz="1200" b="0" i="0">
                <a:solidFill>
                  <a:srgbClr val="1A1F33"/>
                </a:solidFill>
                <a:latin typeface="Arial"/>
              </a:rPr>
              <a:t>70 a 90: revisas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2560320"/>
            <a:ext cx="201168" cy="201168"/>
          </a:xfrm>
          <a:prstGeom prst="rect">
            <a:avLst/>
          </a:prstGeom>
          <a:solidFill>
            <a:srgbClr val="B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25328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3312B"/>
                </a:solidFill>
                <a:latin typeface="Arial"/>
              </a:rPr>
              <a:t>Rojo  </a:t>
            </a:r>
            <a:r>
              <a:rPr sz="1200" b="0" i="0">
                <a:solidFill>
                  <a:srgbClr val="1A1F33"/>
                </a:solidFill>
                <a:latin typeface="Arial"/>
              </a:rPr>
              <a:t>menos de 70: descartas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3063240"/>
            <a:ext cx="3063240" cy="1170432"/>
          </a:xfrm>
          <a:prstGeom prst="roundRect">
            <a:avLst>
              <a:gd name="adj" fmla="val 7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3172968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A6076"/>
                </a:solidFill>
                <a:latin typeface="Arial"/>
              </a:rPr>
              <a:t>CONFIANZA MEDIA POR PALABRA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4144" y="341071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7F4B"/>
                </a:solidFill>
                <a:latin typeface="Arial"/>
              </a:rPr>
              <a:t>98.7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076"/>
                </a:solidFill>
                <a:latin typeface="Arial"/>
              </a:rPr>
              <a:t>factura limpia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41071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7F4B"/>
                </a:solidFill>
                <a:latin typeface="Arial"/>
              </a:rPr>
              <a:t>96.2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076"/>
                </a:solidFill>
                <a:latin typeface="Arial"/>
              </a:rPr>
              <a:t>foto del celular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24144" y="3968496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B2D8E"/>
                </a:solidFill>
                <a:latin typeface="Arial"/>
              </a:rPr>
              <a:t>palabras por debajo de 90:  5  vs 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315968"/>
            <a:ext cx="813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076"/>
                </a:solidFill>
                <a:latin typeface="Arial"/>
              </a:rPr>
              <a:t>Cifras reales de Textract (us-east-1, 4-sep-2026): la foto pierde solo 2.5 puntos. La degradación se ve en el conteo de palabras dudosas, no en la media.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35  ·  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FORMS + TABLES + LAYOUT: tu único TODO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73352"/>
            <a:ext cx="4709160" cy="1810512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773936"/>
            <a:ext cx="4416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0C8"/>
                </a:solidFill>
                <a:latin typeface="Arial"/>
              </a:rPr>
              <a:t>TODO en 02_formulario_tabla.py — 8 líneas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975104"/>
            <a:ext cx="4416552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def mi_pares_clave_valor(resp):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by_id, pares = indice(resp), {}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for b in resp[</a:t>
            </a:r>
            <a:r>
              <a:rPr sz="900">
                <a:solidFill>
                  <a:srgbClr val="F0B44C"/>
                </a:solidFill>
                <a:latin typeface="Courier New"/>
              </a:rPr>
              <a:t>'Blocks'</a:t>
            </a:r>
            <a:r>
              <a:rPr sz="900">
                <a:solidFill>
                  <a:srgbClr val="E8EAF0"/>
                </a:solidFill>
                <a:latin typeface="Courier New"/>
              </a:rPr>
              <a:t>]: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    if (b[</a:t>
            </a:r>
            <a:r>
              <a:rPr sz="900">
                <a:solidFill>
                  <a:srgbClr val="F0B44C"/>
                </a:solidFill>
                <a:latin typeface="Courier New"/>
              </a:rPr>
              <a:t>'BlockType'</a:t>
            </a:r>
            <a:r>
              <a:rPr sz="900">
                <a:solidFill>
                  <a:srgbClr val="E8EAF0"/>
                </a:solidFill>
                <a:latin typeface="Courier New"/>
              </a:rPr>
              <a:t>] == </a:t>
            </a:r>
            <a:r>
              <a:rPr sz="900">
                <a:solidFill>
                  <a:srgbClr val="F0B44C"/>
                </a:solidFill>
                <a:latin typeface="Courier New"/>
              </a:rPr>
              <a:t>'KEY_VALUE_SET'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            and </a:t>
            </a:r>
            <a:r>
              <a:rPr sz="900">
                <a:solidFill>
                  <a:srgbClr val="F0B44C"/>
                </a:solidFill>
                <a:latin typeface="Courier New"/>
              </a:rPr>
              <a:t>'KEY'</a:t>
            </a:r>
            <a:r>
              <a:rPr sz="900">
                <a:solidFill>
                  <a:srgbClr val="E8EAF0"/>
                </a:solidFill>
                <a:latin typeface="Courier New"/>
              </a:rPr>
              <a:t> in b.get(</a:t>
            </a:r>
            <a:r>
              <a:rPr sz="900">
                <a:solidFill>
                  <a:srgbClr val="F0B44C"/>
                </a:solidFill>
                <a:latin typeface="Courier New"/>
              </a:rPr>
              <a:t>'EntityTypes'</a:t>
            </a:r>
            <a:r>
              <a:rPr sz="900">
                <a:solidFill>
                  <a:srgbClr val="E8EAF0"/>
                </a:solidFill>
                <a:latin typeface="Courier New"/>
              </a:rPr>
              <a:t>, [])):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        valor = hijos(b, by_id, tipo=</a:t>
            </a:r>
            <a:r>
              <a:rPr sz="900">
                <a:solidFill>
                  <a:srgbClr val="F0B44C"/>
                </a:solidFill>
                <a:latin typeface="Courier New"/>
              </a:rPr>
              <a:t>'VALUE'</a:t>
            </a:r>
            <a:r>
              <a:rPr sz="900">
                <a:solidFill>
                  <a:srgbClr val="E8EAF0"/>
                </a:solidFill>
                <a:latin typeface="Courier New"/>
              </a:rPr>
              <a:t>)[0]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        clave = texto(b, by_id).rstrip(</a:t>
            </a:r>
            <a:r>
              <a:rPr sz="900">
                <a:solidFill>
                  <a:srgbClr val="F0B44C"/>
                </a:solidFill>
                <a:latin typeface="Courier New"/>
              </a:rPr>
              <a:t>':'</a:t>
            </a:r>
            <a:r>
              <a:rPr sz="900">
                <a:solidFill>
                  <a:srgbClr val="E8EAF0"/>
                </a:solidFill>
                <a:latin typeface="Courier New"/>
              </a:rPr>
              <a:t>).strip()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        pares[clave] = texto(valor, by_id)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return pares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723644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0136" y="1673352"/>
            <a:ext cx="2980944" cy="373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338"/>
                </a:solidFill>
                <a:latin typeface="Arial"/>
              </a:rPr>
              <a:t>KEY —VALUE→ VALUE. </a:t>
            </a:r>
            <a:r>
              <a:rPr sz="1150" b="0" i="0">
                <a:solidFill>
                  <a:srgbClr val="1A1F33"/>
                </a:solidFill>
                <a:latin typeface="Arial"/>
              </a:rPr>
              <a:t>EntityTypes distingue cuál es cuál.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2243023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0136" y="2192731"/>
            <a:ext cx="2980944" cy="373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338"/>
                </a:solidFill>
                <a:latin typeface="Arial"/>
              </a:rPr>
              <a:t>SELECTION_ELEMENT </a:t>
            </a:r>
            <a:r>
              <a:rPr sz="1150" b="0" i="0">
                <a:solidFill>
                  <a:srgbClr val="1A1F33"/>
                </a:solidFill>
                <a:latin typeface="Arial"/>
              </a:rPr>
              <a:t>dentro del VALUE se convierte en [X] o [ 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2762402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0136" y="2712110"/>
            <a:ext cx="2980944" cy="373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338"/>
                </a:solidFill>
                <a:latin typeface="Arial"/>
              </a:rPr>
              <a:t>TABLE → CELL </a:t>
            </a:r>
            <a:r>
              <a:rPr sz="1150" b="0" i="0">
                <a:solidFill>
                  <a:srgbClr val="1A1F33"/>
                </a:solidFill>
                <a:latin typeface="Arial"/>
              </a:rPr>
              <a:t>con RowIndex y ColumnIndex → detalle.csv.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0680" y="3281781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0136" y="3231489"/>
            <a:ext cx="2980944" cy="373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338"/>
                </a:solidFill>
                <a:latin typeface="Arial"/>
              </a:rPr>
              <a:t>LAYOUT </a:t>
            </a:r>
            <a:r>
              <a:rPr sz="1150" b="0" i="0">
                <a:solidFill>
                  <a:srgbClr val="1A1F33"/>
                </a:solidFill>
                <a:latin typeface="Arial"/>
              </a:rPr>
              <a:t>sale sin costo extra cuando va con TABLES.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3154680"/>
            <a:ext cx="3200400" cy="73152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6984" y="3273552"/>
            <a:ext cx="290779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7F4B"/>
                </a:solidFill>
                <a:latin typeface="Arial"/>
              </a:rPr>
              <a:t>✔ tu implementación coincide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5A6076"/>
                </a:solidFill>
                <a:latin typeface="Arial"/>
              </a:rPr>
              <a:t>Si no llegas, copia checkpoints/lab2/ y sigues.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14216"/>
            <a:ext cx="813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Llamada cara: US$ 0.065 por página (Oregón, aprox.). Ejecútala dos veces; el cache evita repetirla.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46  ·  CHECKPOINT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¿Tienes el diccionario y el CSV?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73352"/>
            <a:ext cx="2606040" cy="731520"/>
          </a:xfrm>
          <a:prstGeom prst="roundRect">
            <a:avLst>
              <a:gd name="adj" fmla="val 7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" y="1892808"/>
            <a:ext cx="219456" cy="219456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181965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7F4B"/>
                </a:solidFill>
                <a:latin typeface="Arial"/>
              </a:rPr>
              <a:t>Verde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076"/>
                </a:solidFill>
                <a:latin typeface="Arial"/>
              </a:rPr>
              <a:t>dict + CSV listos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39" y="1673352"/>
            <a:ext cx="2606040" cy="731520"/>
          </a:xfrm>
          <a:prstGeom prst="roundRect">
            <a:avLst>
              <a:gd name="adj" fmla="val 7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92808"/>
            <a:ext cx="219456" cy="219456"/>
          </a:xfrm>
          <a:prstGeom prst="rect">
            <a:avLst/>
          </a:prstGeom>
          <a:solidFill>
            <a:srgbClr val="B87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181965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8730B"/>
                </a:solidFill>
                <a:latin typeface="Arial"/>
              </a:rPr>
              <a:t>Ámbar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076"/>
                </a:solidFill>
                <a:latin typeface="Arial"/>
              </a:rPr>
              <a:t>el TODO no coincide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9" y="1673352"/>
            <a:ext cx="2606040" cy="731520"/>
          </a:xfrm>
          <a:prstGeom prst="roundRect">
            <a:avLst>
              <a:gd name="adj" fmla="val 7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1" y="1892808"/>
            <a:ext cx="219456" cy="219456"/>
          </a:xfrm>
          <a:prstGeom prst="rect">
            <a:avLst/>
          </a:prstGeom>
          <a:solidFill>
            <a:srgbClr val="B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181965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3312B"/>
                </a:solidFill>
                <a:latin typeface="Arial"/>
              </a:rPr>
              <a:t>Rojo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076"/>
                </a:solidFill>
                <a:latin typeface="Arial"/>
              </a:rPr>
              <a:t>nada corre todavía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551176"/>
            <a:ext cx="4709160" cy="914400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2651760"/>
            <a:ext cx="4416552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50">
                <a:solidFill>
                  <a:srgbClr val="A8B0C8"/>
                </a:solidFill>
                <a:latin typeface="Courier New"/>
              </a:rPr>
              <a:t># si no llegaste, no te quedes atrás: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50">
                <a:solidFill>
                  <a:srgbClr val="E8EAF0"/>
                </a:solidFill>
                <a:latin typeface="Courier New"/>
              </a:rPr>
              <a:t>cp checkpoints/lab2/02_formulario_tabla.py .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50">
                <a:solidFill>
                  <a:srgbClr val="E8EAF0"/>
                </a:solidFill>
                <a:latin typeface="Courier New"/>
              </a:rPr>
              <a:t>python3 02_formulario_tabla.py docs/factura_limpia.png --csv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2551176"/>
            <a:ext cx="3200400" cy="676656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6984" y="2670048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338"/>
                </a:solidFill>
                <a:latin typeface="Arial"/>
              </a:rPr>
              <a:t>Decisión A · el reloj va en hora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El Lab 3 va en manos de todos.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3355848"/>
            <a:ext cx="3200400" cy="676656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6984" y="3474720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B2D8E"/>
                </a:solidFill>
                <a:latin typeface="Arial"/>
              </a:rPr>
              <a:t>Decisión B · más de 3 min de retraso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El Lab 3 pasa a demo y el bonus se elimina.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48  ·  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La capa inteligente, sin 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73352"/>
            <a:ext cx="4937760" cy="2240280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773936"/>
            <a:ext cx="4645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0C8"/>
                </a:solidFill>
                <a:latin typeface="Arial"/>
              </a:rPr>
              <a:t>03_inteligente.py — el núcleo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975104"/>
            <a:ext cx="4645152" cy="1847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from textract_lab.queries import QUERIES_FACTURA   </a:t>
            </a:r>
            <a:r>
              <a:rPr sz="800">
                <a:solidFill>
                  <a:srgbClr val="A8B0C8"/>
                </a:solidFill>
                <a:latin typeface="Courier New"/>
              </a:rPr>
              <a:t># 7, ASCII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resp_q = llamar(</a:t>
            </a:r>
            <a:r>
              <a:rPr sz="800">
                <a:solidFill>
                  <a:srgbClr val="F0B44C"/>
                </a:solidFill>
                <a:latin typeface="Courier New"/>
              </a:rPr>
              <a:t>'analyze_document'</a:t>
            </a:r>
            <a:r>
              <a:rPr sz="800">
                <a:solidFill>
                  <a:srgbClr val="E8EAF0"/>
                </a:solidFill>
                <a:latin typeface="Courier New"/>
              </a:rPr>
              <a:t>, doc,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                feature_types=[</a:t>
            </a:r>
            <a:r>
              <a:rPr sz="800">
                <a:solidFill>
                  <a:srgbClr val="F0B44C"/>
                </a:solidFill>
                <a:latin typeface="Courier New"/>
              </a:rPr>
              <a:t>'QUERIES'</a:t>
            </a:r>
            <a:r>
              <a:rPr sz="800">
                <a:solidFill>
                  <a:srgbClr val="E8EAF0"/>
                </a:solidFill>
                <a:latin typeface="Courier New"/>
              </a:rPr>
              <a:t>], queries=QUERIES_FACTURA)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resp_f = llamar(</a:t>
            </a:r>
            <a:r>
              <a:rPr sz="800">
                <a:solidFill>
                  <a:srgbClr val="F0B44C"/>
                </a:solidFill>
                <a:latin typeface="Courier New"/>
              </a:rPr>
              <a:t>'analyze_document'</a:t>
            </a:r>
            <a:r>
              <a:rPr sz="800">
                <a:solidFill>
                  <a:srgbClr val="E8EAF0"/>
                </a:solidFill>
                <a:latin typeface="Courier New"/>
              </a:rPr>
              <a:t>, doc,   </a:t>
            </a:r>
            <a:r>
              <a:rPr sz="800">
                <a:solidFill>
                  <a:srgbClr val="A8B0C8"/>
                </a:solidFill>
                <a:latin typeface="Courier New"/>
              </a:rPr>
              <a:t># cache del Lab 2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                feature_types=[</a:t>
            </a:r>
            <a:r>
              <a:rPr sz="800">
                <a:solidFill>
                  <a:srgbClr val="F0B44C"/>
                </a:solidFill>
                <a:latin typeface="Courier New"/>
              </a:rPr>
              <a:t>'FORMS'</a:t>
            </a:r>
            <a:r>
              <a:rPr sz="800">
                <a:solidFill>
                  <a:srgbClr val="E8EAF0"/>
                </a:solidFill>
                <a:latin typeface="Courier New"/>
              </a:rPr>
              <a:t>, </a:t>
            </a:r>
            <a:r>
              <a:rPr sz="800">
                <a:solidFill>
                  <a:srgbClr val="F0B44C"/>
                </a:solidFill>
                <a:latin typeface="Courier New"/>
              </a:rPr>
              <a:t>'TABLES'</a:t>
            </a:r>
            <a:r>
              <a:rPr sz="800">
                <a:solidFill>
                  <a:srgbClr val="E8EAF0"/>
                </a:solidFill>
                <a:latin typeface="Courier New"/>
              </a:rPr>
              <a:t>, </a:t>
            </a:r>
            <a:r>
              <a:rPr sz="800">
                <a:solidFill>
                  <a:srgbClr val="F0B44C"/>
                </a:solidFill>
                <a:latin typeface="Courier New"/>
              </a:rPr>
              <a:t>'LAYOUT'</a:t>
            </a:r>
            <a:r>
              <a:rPr sz="800">
                <a:solidFill>
                  <a:srgbClr val="E8EAF0"/>
                </a:solidFill>
                <a:latin typeface="Courier New"/>
              </a:rPr>
              <a:t>])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campos = respuestas_queries(resp_q)   </a:t>
            </a:r>
            <a:r>
              <a:rPr sz="800">
                <a:solidFill>
                  <a:srgbClr val="A8B0C8"/>
                </a:solidFill>
                <a:latin typeface="Courier New"/>
              </a:rPr>
              <a:t># alias -&gt; Campo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forms  = pares_clave_valor(resp_f)    </a:t>
            </a:r>
            <a:r>
              <a:rPr sz="800">
                <a:solidFill>
                  <a:srgbClr val="A8B0C8"/>
                </a:solidFill>
                <a:latin typeface="Courier New"/>
              </a:rPr>
              <a:t># etiqueta -&gt; Campo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A8B0C8"/>
                </a:solidFill>
                <a:latin typeface="Courier New"/>
              </a:rPr>
              <a:t># por cada campo gana la fuente con mayor confianza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alertas = validar_factura(campos, tablas(resp_f))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print(estado_final(alertas), alertas)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723644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1673352"/>
            <a:ext cx="2752344" cy="519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338"/>
                </a:solidFill>
                <a:latin typeface="Arial"/>
              </a:rPr>
              <a:t>Queries en inglés y ASCII: </a:t>
            </a:r>
            <a:r>
              <a:rPr sz="1100" b="0" i="0">
                <a:solidFill>
                  <a:srgbClr val="1A1F33"/>
                </a:solidFill>
                <a:latin typeface="Arial"/>
              </a:rPr>
              <a:t>'What is the RUC of the issuer?' → RUC_EMISOR. Siete en total.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361895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88736" y="2311603"/>
            <a:ext cx="2752344" cy="519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338"/>
                </a:solidFill>
                <a:latin typeface="Arial"/>
              </a:rPr>
              <a:t>Campo(valor, confianza, origen): </a:t>
            </a:r>
            <a:r>
              <a:rPr sz="1100" b="0" i="0">
                <a:solidFill>
                  <a:srgbClr val="1A1F33"/>
                </a:solidFill>
                <a:latin typeface="Arial"/>
              </a:rPr>
              <a:t>la fuente con mayor confianza gana y queda trazada.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3000146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88736" y="2949854"/>
            <a:ext cx="2752344" cy="519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338"/>
                </a:solidFill>
                <a:latin typeface="Arial"/>
              </a:rPr>
              <a:t>Validadores: </a:t>
            </a:r>
            <a:r>
              <a:rPr sz="1100" b="0" i="0">
                <a:solidFill>
                  <a:srgbClr val="1A1F33"/>
                </a:solidFill>
                <a:latin typeface="Arial"/>
              </a:rPr>
              <a:t>módulo 11 del RUC y de la clave de 49 dígitos, ítems = subtotal, subtotal × 0.15 = IVA.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638397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8736" y="3588105"/>
            <a:ext cx="2752344" cy="358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338"/>
                </a:solidFill>
                <a:latin typeface="Arial"/>
              </a:rPr>
              <a:t>CLAVE_ACCESO: </a:t>
            </a:r>
            <a:r>
              <a:rPr sz="1100" b="0" i="0">
                <a:solidFill>
                  <a:srgbClr val="1A1F33"/>
                </a:solidFill>
                <a:latin typeface="Arial"/>
              </a:rPr>
              <a:t>QUERIES 83.0 · FORMS 95.0 → gana 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69080"/>
            <a:ext cx="813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QUERIES es una llamada aparte de US$ 0.015 por página; FORMS y TABLES se reutilizan del cache.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0"/>
            <a:ext cx="9230868" cy="5143500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00253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8FD8"/>
                </a:solidFill>
                <a:latin typeface="Arial"/>
              </a:rPr>
              <a:t>MIN 52  ·  LAB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5214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Validar el negocio, no solo el OCR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19072"/>
            <a:ext cx="4023360" cy="1097280"/>
          </a:xfrm>
          <a:prstGeom prst="rect">
            <a:avLst/>
          </a:prstGeom>
          <a:solidFill>
            <a:srgbClr val="F7F7FA"/>
          </a:solidFill>
          <a:ln w="9525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883663"/>
            <a:ext cx="1689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658"/>
                </a:solidFill>
                <a:latin typeface="Courier New"/>
              </a:rPr>
              <a:t>Teclado mecanico 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93315" y="1847088"/>
            <a:ext cx="1501444" cy="237744"/>
          </a:xfrm>
          <a:prstGeom prst="rect">
            <a:avLst/>
          </a:prstGeom>
          <a:noFill/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66467" y="1883663"/>
            <a:ext cx="1410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F33"/>
                </a:solidFill>
                <a:latin typeface="Courier New"/>
              </a:rPr>
              <a:t>95.60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2" y="1883663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4B"/>
                </a:solidFill>
                <a:latin typeface="Courier New"/>
              </a:rPr>
              <a:t>99.8%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157983"/>
            <a:ext cx="1689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658"/>
                </a:solidFill>
                <a:latin typeface="Courier New"/>
              </a:rPr>
              <a:t>SUBTOTAL 15%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93315" y="2121408"/>
            <a:ext cx="1501444" cy="237744"/>
          </a:xfrm>
          <a:prstGeom prst="rect">
            <a:avLst/>
          </a:prstGeom>
          <a:noFill/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66467" y="2157983"/>
            <a:ext cx="1410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F33"/>
                </a:solidFill>
                <a:latin typeface="Courier New"/>
              </a:rPr>
              <a:t>821.60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2" y="2157983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4B"/>
                </a:solidFill>
                <a:latin typeface="Courier New"/>
              </a:rPr>
              <a:t>99.9%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432303"/>
            <a:ext cx="1689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658"/>
                </a:solidFill>
                <a:latin typeface="Courier New"/>
              </a:rPr>
              <a:t>CLAVE DE ACCESO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93315" y="2395727"/>
            <a:ext cx="1501444" cy="237744"/>
          </a:xfrm>
          <a:prstGeom prst="rect">
            <a:avLst/>
          </a:prstGeom>
          <a:noFill/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66467" y="2432303"/>
            <a:ext cx="1410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F33"/>
                </a:solidFill>
                <a:latin typeface="Courier New"/>
              </a:rPr>
              <a:t>...4567814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7912" y="2432303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4B"/>
                </a:solidFill>
                <a:latin typeface="Courier New"/>
              </a:rPr>
              <a:t>94.8%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07791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0C8"/>
                </a:solidFill>
                <a:latin typeface="Arial"/>
              </a:rPr>
              <a:t>OCR perfecto: las tres cajas en verde. Y aun así el documento está mal.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1719072"/>
            <a:ext cx="3749039" cy="1417320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38344" y="1819656"/>
            <a:ext cx="3456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0C8"/>
                </a:solidFill>
                <a:latin typeface="Arial"/>
              </a:rPr>
              <a:t>salida/factura_trampa.validado.json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8344" y="2020824"/>
            <a:ext cx="3456432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{ </a:t>
            </a:r>
            <a:r>
              <a:rPr sz="900">
                <a:solidFill>
                  <a:srgbClr val="F0B44C"/>
                </a:solidFill>
                <a:latin typeface="Courier New"/>
              </a:rPr>
              <a:t>"estado"</a:t>
            </a:r>
            <a:r>
              <a:rPr sz="900">
                <a:solidFill>
                  <a:srgbClr val="E8EAF0"/>
                </a:solidFill>
                <a:latin typeface="Courier New"/>
              </a:rPr>
              <a:t>: </a:t>
            </a:r>
            <a:r>
              <a:rPr sz="900">
                <a:solidFill>
                  <a:srgbClr val="F0B44C"/>
                </a:solidFill>
                <a:latin typeface="Courier New"/>
              </a:rPr>
              <a:t>"REVISAR"</a:t>
            </a:r>
            <a:r>
              <a:rPr sz="900">
                <a:solidFill>
                  <a:srgbClr val="E8EAF0"/>
                </a:solidFill>
                <a:latin typeface="Courier New"/>
              </a:rPr>
              <a:t>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</a:t>
            </a:r>
            <a:r>
              <a:rPr sz="900">
                <a:solidFill>
                  <a:srgbClr val="F0B44C"/>
                </a:solidFill>
                <a:latin typeface="Courier New"/>
              </a:rPr>
              <a:t>"alertas"</a:t>
            </a:r>
            <a:r>
              <a:rPr sz="900">
                <a:solidFill>
                  <a:srgbClr val="E8EAF0"/>
                </a:solidFill>
                <a:latin typeface="Courier New"/>
              </a:rPr>
              <a:t>: [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"clave de acceso con digito verificador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 invalido (esperado 3, leido 4)",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"items no suman el subtotal: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 items 831.60 vs SUBTOTAL 821.60" ] 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3195828"/>
            <a:ext cx="91440" cy="91440"/>
          </a:xfrm>
          <a:prstGeom prst="rect">
            <a:avLst/>
          </a:prstGeom>
          <a:solidFill>
            <a:srgbClr val="C98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1496" y="3145536"/>
            <a:ext cx="3529583" cy="358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AF0"/>
                </a:solidFill>
                <a:latin typeface="Arial"/>
              </a:rPr>
              <a:t>Las mismas reglas atrapan errores del documento y errores del OCR.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3673144"/>
            <a:ext cx="91440" cy="91440"/>
          </a:xfrm>
          <a:prstGeom prst="rect">
            <a:avLst/>
          </a:prstGeom>
          <a:solidFill>
            <a:srgbClr val="C98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11496" y="3622852"/>
            <a:ext cx="3529583" cy="358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AF0"/>
                </a:solidFill>
                <a:latin typeface="Arial"/>
              </a:rPr>
              <a:t>Sin ningún servicio adicional: funciona en modo offline.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2040" y="4150461"/>
            <a:ext cx="91440" cy="91440"/>
          </a:xfrm>
          <a:prstGeom prst="rect">
            <a:avLst/>
          </a:prstGeom>
          <a:solidFill>
            <a:srgbClr val="C98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11496" y="4100169"/>
            <a:ext cx="3529583" cy="358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AF0"/>
                </a:solidFill>
                <a:latin typeface="Arial"/>
              </a:rPr>
              <a:t>Human-in-the-loop = estado REVISAR y tu propia cola de revisión.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55  ·  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Esto ya es un sistema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73352"/>
            <a:ext cx="4069080" cy="1572768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773936"/>
            <a:ext cx="3776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0C8"/>
                </a:solidFill>
                <a:latin typeface="Arial"/>
              </a:rPr>
              <a:t>textract_lab/etapas.py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975104"/>
            <a:ext cx="3776472" cy="117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E8EAF0"/>
                </a:solidFill>
                <a:latin typeface="Courier New"/>
              </a:rPr>
              <a:t>ETAPAS = [texto, estructura, consultas,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E8EAF0"/>
                </a:solidFill>
                <a:latin typeface="Courier New"/>
              </a:rPr>
              <a:t>          clasificar_etapa, validar, salida]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E8EAF0"/>
                </a:solidFill>
                <a:latin typeface="Courier New"/>
              </a:rPr>
              <a:t>def procesar_documento(documento, modo=None):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E8EAF0"/>
                </a:solidFill>
                <a:latin typeface="Courier New"/>
              </a:rPr>
              <a:t>    ctx = {</a:t>
            </a:r>
            <a:r>
              <a:rPr sz="850">
                <a:solidFill>
                  <a:srgbClr val="F0B44C"/>
                </a:solidFill>
                <a:latin typeface="Courier New"/>
              </a:rPr>
              <a:t>'documento'</a:t>
            </a:r>
            <a:r>
              <a:rPr sz="850">
                <a:solidFill>
                  <a:srgbClr val="E8EAF0"/>
                </a:solidFill>
                <a:latin typeface="Courier New"/>
              </a:rPr>
              <a:t>: documento, </a:t>
            </a:r>
            <a:r>
              <a:rPr sz="850">
                <a:solidFill>
                  <a:srgbClr val="F0B44C"/>
                </a:solidFill>
                <a:latin typeface="Courier New"/>
              </a:rPr>
              <a:t>'modo'</a:t>
            </a:r>
            <a:r>
              <a:rPr sz="850">
                <a:solidFill>
                  <a:srgbClr val="E8EAF0"/>
                </a:solidFill>
                <a:latin typeface="Courier New"/>
              </a:rPr>
              <a:t>: modo}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E8EAF0"/>
                </a:solidFill>
                <a:latin typeface="Courier New"/>
              </a:rPr>
              <a:t>    for etapa in ETAPAS: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E8EAF0"/>
                </a:solidFill>
                <a:latin typeface="Courier New"/>
              </a:rPr>
              <a:t>        ctx = etapa(ctx)   </a:t>
            </a:r>
            <a:r>
              <a:rPr sz="850">
                <a:solidFill>
                  <a:srgbClr val="A8B0C8"/>
                </a:solidFill>
                <a:latin typeface="Courier New"/>
              </a:rPr>
              <a:t># recibe y devuelve ctx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E8EAF0"/>
                </a:solidFill>
                <a:latin typeface="Courier New"/>
              </a:rPr>
              <a:t>    return ctx[</a:t>
            </a:r>
            <a:r>
              <a:rPr sz="850">
                <a:solidFill>
                  <a:srgbClr val="F0B44C"/>
                </a:solidFill>
                <a:latin typeface="Courier New"/>
              </a:rPr>
              <a:t>'resultado'</a:t>
            </a:r>
            <a:r>
              <a:rPr sz="850">
                <a:solidFill>
                  <a:srgbClr val="E8EAF0"/>
                </a:solidFill>
                <a:latin typeface="Courier New"/>
              </a:rPr>
              <a:t>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74136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Un pipeline es una lista de funciones ctx → ctx. Puntos de extensión: cola de revisión, base de datos, un LLM o BDA en una etapa nueva.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846320" y="1673352"/>
          <a:ext cx="3794759" cy="210311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34959"/>
                <a:gridCol w="852755"/>
                <a:gridCol w="724841"/>
                <a:gridCol w="682204"/>
              </a:tblGrid>
              <a:tr h="30044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marL="73152" marR="73152" marT="32004" marB="32004" anchor="ctr">
                    <a:solidFill>
                      <a:srgbClr val="0B1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tipo</a:t>
                      </a:r>
                    </a:p>
                  </a:txBody>
                  <a:tcPr marL="73152" marR="73152" marT="32004" marB="32004" anchor="ctr">
                    <a:solidFill>
                      <a:srgbClr val="0B1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estado</a:t>
                      </a:r>
                    </a:p>
                  </a:txBody>
                  <a:tcPr marL="73152" marR="73152" marT="32004" marB="32004" anchor="ctr">
                    <a:solidFill>
                      <a:srgbClr val="0B1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alertas</a:t>
                      </a:r>
                    </a:p>
                  </a:txBody>
                  <a:tcPr marL="73152" marR="73152" marT="32004" marB="32004" anchor="ctr">
                    <a:solidFill>
                      <a:srgbClr val="0B1338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F33"/>
                          </a:solidFill>
                          <a:latin typeface="Arial"/>
                        </a:rPr>
                        <a:t>factura_limpia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factura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F33"/>
                          </a:solidFill>
                          <a:latin typeface="Arial"/>
                        </a:rPr>
                        <a:t>factura_trampa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factura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REVISAR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F33"/>
                          </a:solidFill>
                          <a:latin typeface="Arial"/>
                        </a:rPr>
                        <a:t>factura_foto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factura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F33"/>
                          </a:solidFill>
                          <a:latin typeface="Arial"/>
                        </a:rPr>
                        <a:t>formulario_inscripcion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formulario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F33"/>
                          </a:solidFill>
                          <a:latin typeface="Arial"/>
                        </a:rPr>
                        <a:t>orden_compra_prosa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desconocido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REVISAR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F33"/>
                          </a:solidFill>
                          <a:latin typeface="Arial"/>
                        </a:rPr>
                        <a:t>mini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desconocido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REVISAR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F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846320" y="3867912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✔ 3 OK · 3 REVISAR · 0 SIN DATOS · US$ 0.00 (todo desde cache y fixtures).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59  ·  BONUS (DEMO)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Textract extrae, Bedrock razona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73352"/>
            <a:ext cx="4937760" cy="1883664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773936"/>
            <a:ext cx="4645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0C8"/>
                </a:solidFill>
                <a:latin typeface="Arial"/>
              </a:rPr>
              <a:t>textract_lab/bedrock.py — Converse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975104"/>
            <a:ext cx="4645152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MODELO = </a:t>
            </a:r>
            <a:r>
              <a:rPr sz="800">
                <a:solidFill>
                  <a:srgbClr val="F0B44C"/>
                </a:solidFill>
                <a:latin typeface="Courier New"/>
              </a:rPr>
              <a:t>'us.anthropic.claude-haiku-4-5-20251001-v1:0'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A8B0C8"/>
                </a:solidFill>
                <a:latin typeface="Courier New"/>
              </a:rPr>
              <a:t># nunca el ID base en us-east-1: exige el perfil us. o global.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resp = client.converse(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    modelId=MODELO,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    system=[{</a:t>
            </a:r>
            <a:r>
              <a:rPr sz="800">
                <a:solidFill>
                  <a:srgbClr val="F0B44C"/>
                </a:solidFill>
                <a:latin typeface="Courier New"/>
              </a:rPr>
              <a:t>'text'</a:t>
            </a:r>
            <a:r>
              <a:rPr sz="800">
                <a:solidFill>
                  <a:srgbClr val="E8EAF0"/>
                </a:solidFill>
                <a:latin typeface="Courier New"/>
              </a:rPr>
              <a:t>: SYSTEM_PROMPT_ES}],   </a:t>
            </a:r>
            <a:r>
              <a:rPr sz="800">
                <a:solidFill>
                  <a:srgbClr val="A8B0C8"/>
                </a:solidFill>
                <a:latin typeface="Courier New"/>
              </a:rPr>
              <a:t># "no inventes"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    messages=[{</a:t>
            </a:r>
            <a:r>
              <a:rPr sz="800">
                <a:solidFill>
                  <a:srgbClr val="F0B44C"/>
                </a:solidFill>
                <a:latin typeface="Courier New"/>
              </a:rPr>
              <a:t>'role'</a:t>
            </a:r>
            <a:r>
              <a:rPr sz="800">
                <a:solidFill>
                  <a:srgbClr val="E8EAF0"/>
                </a:solidFill>
                <a:latin typeface="Courier New"/>
              </a:rPr>
              <a:t>: </a:t>
            </a:r>
            <a:r>
              <a:rPr sz="800">
                <a:solidFill>
                  <a:srgbClr val="F0B44C"/>
                </a:solidFill>
                <a:latin typeface="Courier New"/>
              </a:rPr>
              <a:t>'user'</a:t>
            </a:r>
            <a:r>
              <a:rPr sz="800">
                <a:solidFill>
                  <a:srgbClr val="E8EAF0"/>
                </a:solidFill>
                <a:latin typeface="Courier New"/>
              </a:rPr>
              <a:t>, </a:t>
            </a:r>
            <a:r>
              <a:rPr sz="800">
                <a:solidFill>
                  <a:srgbClr val="F0B44C"/>
                </a:solidFill>
                <a:latin typeface="Courier New"/>
              </a:rPr>
              <a:t>'content'</a:t>
            </a:r>
            <a:r>
              <a:rPr sz="800">
                <a:solidFill>
                  <a:srgbClr val="E8EAF0"/>
                </a:solidFill>
                <a:latin typeface="Courier New"/>
              </a:rPr>
              <a:t>: [{</a:t>
            </a:r>
            <a:r>
              <a:rPr sz="800">
                <a:solidFill>
                  <a:srgbClr val="F0B44C"/>
                </a:solidFill>
                <a:latin typeface="Courier New"/>
              </a:rPr>
              <a:t>'text'</a:t>
            </a:r>
            <a:r>
              <a:rPr sz="800">
                <a:solidFill>
                  <a:srgbClr val="E8EAF0"/>
                </a:solidFill>
                <a:latin typeface="Courier New"/>
              </a:rPr>
              <a:t>: texto}]}],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    inferenceConfig={</a:t>
            </a:r>
            <a:r>
              <a:rPr sz="800">
                <a:solidFill>
                  <a:srgbClr val="F0B44C"/>
                </a:solidFill>
                <a:latin typeface="Courier New"/>
              </a:rPr>
              <a:t>'temperature'</a:t>
            </a:r>
            <a:r>
              <a:rPr sz="800">
                <a:solidFill>
                  <a:srgbClr val="E8EAF0"/>
                </a:solidFill>
                <a:latin typeface="Courier New"/>
              </a:rPr>
              <a:t>: 0, </a:t>
            </a:r>
            <a:r>
              <a:rPr sz="800">
                <a:solidFill>
                  <a:srgbClr val="F0B44C"/>
                </a:solidFill>
                <a:latin typeface="Courier New"/>
              </a:rPr>
              <a:t>'maxTokens'</a:t>
            </a:r>
            <a:r>
              <a:rPr sz="800">
                <a:solidFill>
                  <a:srgbClr val="E8EAF0"/>
                </a:solidFill>
                <a:latin typeface="Courier New"/>
              </a:rPr>
              <a:t>: 1024},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    outputConfig={</a:t>
            </a:r>
            <a:r>
              <a:rPr sz="800">
                <a:solidFill>
                  <a:srgbClr val="F0B44C"/>
                </a:solidFill>
                <a:latin typeface="Courier New"/>
              </a:rPr>
              <a:t>'textFormat'</a:t>
            </a:r>
            <a:r>
              <a:rPr sz="800">
                <a:solidFill>
                  <a:srgbClr val="E8EAF0"/>
                </a:solidFill>
                <a:latin typeface="Courier New"/>
              </a:rPr>
              <a:t>: {</a:t>
            </a:r>
            <a:r>
              <a:rPr sz="800">
                <a:solidFill>
                  <a:srgbClr val="F0B44C"/>
                </a:solidFill>
                <a:latin typeface="Courier New"/>
              </a:rPr>
              <a:t>'type'</a:t>
            </a:r>
            <a:r>
              <a:rPr sz="800">
                <a:solidFill>
                  <a:srgbClr val="E8EAF0"/>
                </a:solidFill>
                <a:latin typeface="Courier New"/>
              </a:rPr>
              <a:t>: </a:t>
            </a:r>
            <a:r>
              <a:rPr sz="800">
                <a:solidFill>
                  <a:srgbClr val="F0B44C"/>
                </a:solidFill>
                <a:latin typeface="Courier New"/>
              </a:rPr>
              <a:t>'json_schema'</a:t>
            </a:r>
            <a:r>
              <a:rPr sz="800">
                <a:solidFill>
                  <a:srgbClr val="E8EAF0"/>
                </a:solidFill>
                <a:latin typeface="Courier New"/>
              </a:rPr>
              <a:t>, ...}})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E8EAF0"/>
                </a:solidFill>
                <a:latin typeface="Courier New"/>
              </a:rPr>
              <a:t>alertas += validar_factura(salida_como_campos, tablas)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723644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0176" y="1673352"/>
            <a:ext cx="2660904" cy="6803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338"/>
                </a:solidFill>
                <a:latin typeface="Arial"/>
              </a:rPr>
              <a:t>El LLM propone, </a:t>
            </a:r>
            <a:r>
              <a:rPr sz="1100" b="0" i="0">
                <a:solidFill>
                  <a:srgbClr val="1A1F33"/>
                </a:solidFill>
                <a:latin typeface="Arial"/>
              </a:rPr>
              <a:t>el módulo 11 dispone: su salida vuelve a pasar por los validadores y toda corrección se etiqueta como alerta.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541117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0176" y="2490825"/>
            <a:ext cx="2660904" cy="358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338"/>
                </a:solidFill>
                <a:latin typeface="Arial"/>
              </a:rPr>
              <a:t>Fallback: </a:t>
            </a:r>
            <a:r>
              <a:rPr sz="1100" b="0" i="0">
                <a:solidFill>
                  <a:srgbClr val="1A1F33"/>
                </a:solidFill>
                <a:latin typeface="Arial"/>
              </a:rPr>
              <a:t>amazon.nova-lite-v1:0 con toolConfig y toolChoice forzado.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3036722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0176" y="2986430"/>
            <a:ext cx="2660904" cy="358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338"/>
                </a:solidFill>
                <a:latin typeface="Arial"/>
              </a:rPr>
              <a:t>Costo: </a:t>
            </a:r>
            <a:r>
              <a:rPr sz="1100" b="0" i="0">
                <a:solidFill>
                  <a:srgbClr val="1A1F33"/>
                </a:solidFill>
                <a:latin typeface="Arial"/>
              </a:rPr>
              <a:t>≈ US$ 0.003 por factura con Haiku 4.5 (confirmar).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85032"/>
            <a:ext cx="813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Los asistentes necesitan el formulario de caso de uso de Anthropic y una suscripción de Marketplace de hasta 15 minutos: por eso hoy es solo demo. Receta en bonus/README.md.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61  ·  CRITERIO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¿Queries basta o necesito un LLM?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73352"/>
            <a:ext cx="4206240" cy="1938528"/>
          </a:xfrm>
          <a:prstGeom prst="roundRect">
            <a:avLst>
              <a:gd name="adj" fmla="val 3500"/>
            </a:avLst>
          </a:prstGeom>
          <a:solidFill>
            <a:srgbClr val="0B1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773936"/>
            <a:ext cx="3913631" cy="1746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A8B0C8"/>
                </a:solidFill>
                <a:latin typeface="Courier New"/>
              </a:rPr>
              <a:t># orden_compra_prosa.png — una carta, sin etiquetas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Queries -&gt; PROVEEDOR: </a:t>
            </a:r>
            <a:r>
              <a:rPr sz="900">
                <a:solidFill>
                  <a:srgbClr val="F0B44C"/>
                </a:solidFill>
                <a:latin typeface="Courier New"/>
              </a:rPr>
              <a:t>'Gerente de Compras'</a:t>
            </a:r>
            <a:r>
              <a:rPr sz="900">
                <a:solidFill>
                  <a:srgbClr val="E8EAF0"/>
                </a:solidFill>
                <a:latin typeface="Courier New"/>
              </a:rPr>
              <a:t>  60.0 MAL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       CANT_MONITORES: </a:t>
            </a:r>
            <a:r>
              <a:rPr sz="900">
                <a:solidFill>
                  <a:srgbClr val="F0B44C"/>
                </a:solidFill>
                <a:latin typeface="Courier New"/>
              </a:rPr>
              <a:t>'27'</a:t>
            </a:r>
            <a:r>
              <a:rPr sz="900">
                <a:solidFill>
                  <a:srgbClr val="E8EAF0"/>
                </a:solidFill>
                <a:latin typeface="Courier New"/>
              </a:rPr>
              <a:t>             99.0 MAL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       TOTAL_COMPRA:   sin respuesta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A8B0C8"/>
                </a:solidFill>
                <a:latin typeface="Courier New"/>
              </a:rPr>
              <a:t># 27 son las pulgadas del monitor; la cantidad es 3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A8B0C8"/>
                </a:solidFill>
                <a:latin typeface="Courier New"/>
              </a:rPr>
              <a:t># el proveedor es Tecnologia Andina, no quien firma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LLM     -&gt; {</a:t>
            </a:r>
            <a:r>
              <a:rPr sz="900">
                <a:solidFill>
                  <a:srgbClr val="F0B44C"/>
                </a:solidFill>
                <a:latin typeface="Courier New"/>
              </a:rPr>
              <a:t>"emisor"</a:t>
            </a:r>
            <a:r>
              <a:rPr sz="900">
                <a:solidFill>
                  <a:srgbClr val="E8EAF0"/>
                </a:solidFill>
                <a:latin typeface="Courier New"/>
              </a:rPr>
              <a:t>: </a:t>
            </a:r>
            <a:r>
              <a:rPr sz="900">
                <a:solidFill>
                  <a:srgbClr val="F0B44C"/>
                </a:solidFill>
                <a:latin typeface="Courier New"/>
              </a:rPr>
              <a:t>"Tecnologia Andina Ejemplo S.A."</a:t>
            </a:r>
            <a:r>
              <a:rPr sz="900">
                <a:solidFill>
                  <a:srgbClr val="E8EAF0"/>
                </a:solidFill>
                <a:latin typeface="Courier New"/>
              </a:rPr>
              <a:t>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        </a:t>
            </a:r>
            <a:r>
              <a:rPr sz="900">
                <a:solidFill>
                  <a:srgbClr val="F0B44C"/>
                </a:solidFill>
                <a:latin typeface="Courier New"/>
              </a:rPr>
              <a:t>"items"</a:t>
            </a:r>
            <a:r>
              <a:rPr sz="900">
                <a:solidFill>
                  <a:srgbClr val="E8EAF0"/>
                </a:solidFill>
                <a:latin typeface="Courier New"/>
              </a:rPr>
              <a:t>: [{</a:t>
            </a:r>
            <a:r>
              <a:rPr sz="900">
                <a:solidFill>
                  <a:srgbClr val="F0B44C"/>
                </a:solidFill>
                <a:latin typeface="Courier New"/>
              </a:rPr>
              <a:t>"cantidad"</a:t>
            </a:r>
            <a:r>
              <a:rPr sz="900">
                <a:solidFill>
                  <a:srgbClr val="E8EAF0"/>
                </a:solidFill>
                <a:latin typeface="Courier New"/>
              </a:rPr>
              <a:t>: 3, ...}],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E8EAF0"/>
                </a:solidFill>
                <a:latin typeface="Courier New"/>
              </a:rPr>
              <a:t>            </a:t>
            </a:r>
            <a:r>
              <a:rPr sz="900">
                <a:solidFill>
                  <a:srgbClr val="F0B44C"/>
                </a:solidFill>
                <a:latin typeface="Courier New"/>
              </a:rPr>
              <a:t>"total"</a:t>
            </a:r>
            <a:r>
              <a:rPr sz="900">
                <a:solidFill>
                  <a:srgbClr val="E8EAF0"/>
                </a:solidFill>
                <a:latin typeface="Courier New"/>
              </a:rPr>
              <a:t>: 1221.20, </a:t>
            </a:r>
            <a:r>
              <a:rPr sz="900">
                <a:solidFill>
                  <a:srgbClr val="F0B44C"/>
                </a:solidFill>
                <a:latin typeface="Courier New"/>
              </a:rPr>
              <a:t>"moneda"</a:t>
            </a:r>
            <a:r>
              <a:rPr sz="900">
                <a:solidFill>
                  <a:srgbClr val="E8EAF0"/>
                </a:solidFill>
                <a:latin typeface="Courier New"/>
              </a:rPr>
              <a:t>: </a:t>
            </a:r>
            <a:r>
              <a:rPr sz="900">
                <a:solidFill>
                  <a:srgbClr val="F0B44C"/>
                </a:solidFill>
                <a:latin typeface="Courier New"/>
              </a:rPr>
              <a:t>"USD"</a:t>
            </a:r>
            <a:r>
              <a:rPr sz="900">
                <a:solidFill>
                  <a:srgbClr val="E8EAF0"/>
                </a:solidFill>
                <a:latin typeface="Courier New"/>
              </a:rPr>
              <a:t>}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754880" y="1673352"/>
          <a:ext cx="3886198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7420"/>
                <a:gridCol w="1447274"/>
                <a:gridCol w="741504"/>
              </a:tblGrid>
              <a:tr h="3230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Necesidad</a:t>
                      </a:r>
                    </a:p>
                  </a:txBody>
                  <a:tcPr marL="73152" marR="73152" marT="32004" marB="32004" anchor="ctr">
                    <a:solidFill>
                      <a:srgbClr val="0B1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Herramienta</a:t>
                      </a:r>
                    </a:p>
                  </a:txBody>
                  <a:tcPr marL="73152" marR="73152" marT="32004" marB="32004" anchor="ctr">
                    <a:solidFill>
                      <a:srgbClr val="0B1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US$/pág</a:t>
                      </a:r>
                    </a:p>
                  </a:txBody>
                  <a:tcPr marL="73152" marR="73152" marT="32004" marB="32004" anchor="ctr">
                    <a:solidFill>
                      <a:srgbClr val="0B1338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F33"/>
                          </a:solidFill>
                          <a:latin typeface="Arial"/>
                        </a:rPr>
                        <a:t>Campo con etiqueta conocida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Queries / FORMS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0.015 / 0.05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F33"/>
                          </a:solidFill>
                          <a:latin typeface="Arial"/>
                        </a:rPr>
                        <a:t>Tabla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TABLES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0.015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F33"/>
                          </a:solidFill>
                          <a:latin typeface="Arial"/>
                        </a:rPr>
                        <a:t>Checkbox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SELECTION_ELEMENT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0.05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F33"/>
                          </a:solidFill>
                          <a:latin typeface="Arial"/>
                        </a:rPr>
                        <a:t>Prosa, normalizar, explicar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LLM sobre el texto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≈ 0.003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F33"/>
                          </a:solidFill>
                          <a:latin typeface="Arial"/>
                        </a:rPr>
                        <a:t>Muchos tipos, sin código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Bedrock Data Automation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≈ 0.01–0.04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3776472"/>
            <a:ext cx="813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076"/>
                </a:solidFill>
                <a:latin typeface="Arial"/>
              </a:rPr>
              <a:t>Sobre prosa, Queries no dice “no sé”: responde con seguridad y se equivoca. OCR determinista primero; el LLM solo donde aporta; y el LLM nunca decide solo.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63  ·  PANORAMA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Textract hoy frente a BDA y a un LLM multimodal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673352"/>
          <a:ext cx="8138156" cy="223113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799"/>
                <a:gridCol w="2240279"/>
                <a:gridCol w="2148839"/>
                <a:gridCol w="1920239"/>
              </a:tblGrid>
              <a:tr h="318733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73152" marR="73152" marT="32004" marB="32004" anchor="ctr">
                    <a:solidFill>
                      <a:srgbClr val="0B1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Textract</a:t>
                      </a:r>
                    </a:p>
                  </a:txBody>
                  <a:tcPr marL="73152" marR="73152" marT="32004" marB="32004" anchor="ctr">
                    <a:solidFill>
                      <a:srgbClr val="0B1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Bedrock Data Automation</a:t>
                      </a:r>
                    </a:p>
                  </a:txBody>
                  <a:tcPr marL="73152" marR="73152" marT="32004" marB="32004" anchor="ctr">
                    <a:solidFill>
                      <a:srgbClr val="0B1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LLM multimodal</a:t>
                      </a:r>
                    </a:p>
                  </a:txBody>
                  <a:tcPr marL="73152" marR="73152" marT="32004" marB="32004" anchor="ctr">
                    <a:solidFill>
                      <a:srgbClr val="0B1338"/>
                    </a:solidFill>
                  </a:tcPr>
                </a:tc>
              </a:tr>
              <a:tr h="318733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F33"/>
                          </a:solidFill>
                          <a:latin typeface="Arial"/>
                        </a:rPr>
                        <a:t>US$ por página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0.0015 texto · 0.065 forms+tables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≈ 0.01 est. · 0.04 custom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≈ 0.003–0.01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F33"/>
                          </a:solidFill>
                          <a:latin typeface="Arial"/>
                        </a:rPr>
                        <a:t>Determinista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parcial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</a:tr>
              <a:tr h="318733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F33"/>
                          </a:solidFill>
                          <a:latin typeface="Arial"/>
                        </a:rPr>
                        <a:t>Geometría y confianza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por palabra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por campo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F33"/>
                          </a:solidFill>
                          <a:latin typeface="Arial"/>
                        </a:rPr>
                        <a:t>Español impreso / manuscrito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sí / solo inglés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sí / sí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sí / sí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</a:tr>
              <a:tr h="318733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F33"/>
                          </a:solidFill>
                          <a:latin typeface="Arial"/>
                        </a:rPr>
                        <a:t>Alucinación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posible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posible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F33"/>
                          </a:solidFill>
                          <a:latin typeface="Arial"/>
                        </a:rPr>
                        <a:t>Cuándo usarlo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campos, tablas, checkboxes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muchos tipos, sin código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F33"/>
                          </a:solidFill>
                          <a:latin typeface="Arial"/>
                        </a:rPr>
                        <a:t>prosa y ambigüedad</a:t>
                      </a:r>
                    </a:p>
                  </a:txBody>
                  <a:tcPr marL="73152" marR="73152" marT="32004" marB="32004" anchor="ctr">
                    <a:solidFill>
                      <a:srgbClr val="F2F4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014216"/>
            <a:ext cx="813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076"/>
                </a:solidFill>
                <a:latin typeface="Arial"/>
              </a:rPr>
              <a:t>Ni Textract ni BDA están en sa-east-1. AWS recomienda BDA para la mayoría de casos de IDP y Textract con un LLM cuando necesitas lógica propia (confirmar).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-10972"/>
            <a:ext cx="9242755" cy="718718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81381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4678984"/>
            <a:ext cx="1503273" cy="472744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813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B2D8E"/>
                </a:solidFill>
                <a:latin typeface="Arial"/>
              </a:rPr>
              <a:t>MIN 64  ·  CIERRE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06424"/>
            <a:ext cx="81381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338"/>
                </a:solidFill>
                <a:latin typeface="Arial"/>
              </a:rPr>
              <a:t>Costo real, seguridad y tarea para casa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73352"/>
            <a:ext cx="2514600" cy="1188720"/>
          </a:xfrm>
          <a:prstGeom prst="roundRect">
            <a:avLst>
              <a:gd name="adj" fmla="val 7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19656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7B2D8E"/>
                </a:solidFill>
                <a:latin typeface="Arial"/>
              </a:rPr>
              <a:t>US$ 0.23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5A6076"/>
                </a:solidFill>
                <a:latin typeface="Arial"/>
              </a:rPr>
              <a:t>por persona en modo online
US$ 0 en offline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723644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1673352"/>
            <a:ext cx="5175504" cy="2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338"/>
                </a:solidFill>
                <a:latin typeface="Arial"/>
              </a:rPr>
              <a:t>Borra ahora </a:t>
            </a:r>
            <a:r>
              <a:rPr sz="1150" b="0" i="0">
                <a:solidFill>
                  <a:srgbClr val="1A1F33"/>
                </a:solidFill>
                <a:latin typeface="Arial"/>
              </a:rPr>
              <a:t>las claves temporales que hayas creado hoy.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065629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5576" y="2015337"/>
            <a:ext cx="5175504" cy="2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338"/>
                </a:solidFill>
                <a:latin typeface="Arial"/>
              </a:rPr>
              <a:t>Free tier: </a:t>
            </a:r>
            <a:r>
              <a:rPr sz="1150" b="0" i="0">
                <a:solidFill>
                  <a:srgbClr val="1A1F33"/>
                </a:solidFill>
                <a:latin typeface="Arial"/>
              </a:rPr>
              <a:t>100 páginas al mes de AnalyzeDocument en cuentas nuevas.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407615"/>
            <a:ext cx="91440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5576" y="2357323"/>
            <a:ext cx="5175504" cy="373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338"/>
                </a:solidFill>
                <a:latin typeface="Arial"/>
              </a:rPr>
              <a:t>Los límites, en una frase: </a:t>
            </a:r>
            <a:r>
              <a:rPr sz="1150" b="0" i="0">
                <a:solidFill>
                  <a:srgbClr val="1A1F33"/>
                </a:solidFill>
                <a:latin typeface="Arial"/>
              </a:rPr>
              <a:t>síncrono 1 página y 10 MB; queries, manuscrito y AnalyzeExpense solo en inglés.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08376"/>
            <a:ext cx="813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B2D8E"/>
                </a:solidFill>
                <a:latin typeface="Arial"/>
              </a:rPr>
              <a:t>TAREA PARA CASA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82696"/>
            <a:ext cx="192024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355848"/>
            <a:ext cx="16824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338"/>
                </a:solidFill>
                <a:latin typeface="Courier New"/>
              </a:rPr>
              <a:t>extra/06_expense.py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076"/>
                </a:solidFill>
                <a:latin typeface="Arial"/>
              </a:rPr>
              <a:t>AnalyzeExpense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9463" y="3282696"/>
            <a:ext cx="192024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88335" y="3355848"/>
            <a:ext cx="16824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338"/>
                </a:solidFill>
                <a:latin typeface="Courier New"/>
              </a:rPr>
              <a:t>extra/07_async_s3.py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076"/>
                </a:solidFill>
                <a:latin typeface="Arial"/>
              </a:rPr>
              <a:t>S3 y NextToken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36007" y="3282696"/>
            <a:ext cx="192024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3355848"/>
            <a:ext cx="16824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338"/>
                </a:solidFill>
                <a:latin typeface="Courier New"/>
              </a:rPr>
              <a:t>extra/08_textractor.py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076"/>
                </a:solidFill>
                <a:latin typeface="Arial"/>
              </a:rPr>
              <a:t>to_pandas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02551" y="3282696"/>
            <a:ext cx="192024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1423" y="3355848"/>
            <a:ext cx="16824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338"/>
                </a:solidFill>
                <a:latin typeface="Courier New"/>
              </a:rPr>
              <a:t>bonus/README.md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076"/>
                </a:solidFill>
                <a:latin typeface="Arial"/>
              </a:rPr>
              <a:t>habilitar Bedrock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904487"/>
            <a:ext cx="813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076"/>
                </a:solidFill>
                <a:latin typeface="Arial"/>
              </a:rPr>
              <a:t>pytest tests/ corre al 100 % en offline: puedes seguir trabajando sin cuenta AWS.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" y="0"/>
            <a:ext cx="9230868" cy="5143500"/>
          </a:xfrm>
          <a:prstGeom prst="rect">
            <a:avLst/>
          </a:prstGeom>
        </p:spPr>
      </p:pic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00253"/>
            <a:ext cx="1420063" cy="5349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57607" y="4670755"/>
            <a:ext cx="9242755" cy="472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1" y="4731105"/>
            <a:ext cx="944575" cy="300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27985" y="4649724"/>
            <a:ext cx="5012740" cy="46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espacio para sponsors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Gracias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E8EAF0"/>
                </a:solidFill>
                <a:latin typeface="Arial"/>
              </a:rPr>
              <a:t>Manuel Josue  ·  AWS User Group Ecuador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C98FD8"/>
                </a:solidFill>
                <a:latin typeface="Courier New"/>
              </a:rPr>
              <a:t>&lt;CONTACTO-PONENTE&gt;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AF0"/>
                </a:solidFill>
                <a:latin typeface="Arial"/>
              </a:rPr>
              <a:t>Las preguntas largas, en el pasillo: el auditorio se necesita a las 16:10.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1600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8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338"/>
                </a:solidFill>
                <a:latin typeface="Arial"/>
              </a:rPr>
              <a:t>QR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076"/>
                </a:solidFill>
                <a:latin typeface="Arial"/>
              </a:rPr>
              <a:t>github.com/&lt;usuario&gt;/
textract-ec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1546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&lt;URL-CORTA&gt;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